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961FE3-3321-AF55-B035-FFCFCD23A4D4}" v="11" dt="2026-03-19T13:32:25.044"/>
    <p1510:client id="{ADE868EB-9DEB-D081-4D3D-14B36FBE6ACB}" v="75" dt="2026-03-18T15:15:14.583"/>
    <p1510:client id="{AF695146-09DE-1425-4480-B3F6E08A1F10}" v="176" dt="2026-03-19T15:42:04.105"/>
    <p1510:client id="{FAAA9A93-0BCC-7D80-D63C-74B07D6FCE58}" v="39" dt="2026-03-18T16:04:21.392"/>
  </p1510:revLst>
</p1510:revInfo>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Светлый стиль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3AF54F-A081-40B2-97A7-8C01FA48D21D}" type="datetimeFigureOut">
              <a:t>19.03.2026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EBB765-2D49-4AA4-8CD9-EA94CFBA034A}" type="slidenum">
              <a:t>‹#›</a:t>
            </a:fld>
            <a:endParaRPr lang="ru-RU"/>
          </a:p>
        </p:txBody>
      </p:sp>
    </p:spTree>
    <p:extLst>
      <p:ext uri="{BB962C8B-B14F-4D97-AF65-F5344CB8AC3E}">
        <p14:creationId xmlns:p14="http://schemas.microsoft.com/office/powerpoint/2010/main" val="41510278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a:solidFill>
                  <a:srgbClr val="0F1115"/>
                </a:solidFill>
                <a:highlight>
                  <a:srgbClr val="FFFFFF"/>
                </a:highlight>
              </a:rPr>
              <a:t>I worked with five different scripts. The first uses a simple Lennard-Jones potential – it's fast but not accurate. The second and third use state-of-the-art machine learning potentials, CHGNet and MACE. The fourth script automates screening of 96 different adsorption sites. And the fifth shows how to migrate from an external tool, Open Babel, to pure ASE. Each taught me something different about ASE programming.</a:t>
            </a:r>
            <a:endParaRPr lang="ru-RU"/>
          </a:p>
        </p:txBody>
      </p:sp>
      <p:sp>
        <p:nvSpPr>
          <p:cNvPr id="4" name="Номер слайда 3"/>
          <p:cNvSpPr>
            <a:spLocks noGrp="1"/>
          </p:cNvSpPr>
          <p:nvPr>
            <p:ph type="sldNum" sz="quarter" idx="5"/>
          </p:nvPr>
        </p:nvSpPr>
        <p:spPr/>
        <p:txBody>
          <a:bodyPr/>
          <a:lstStyle/>
          <a:p>
            <a:fld id="{ABEBB765-2D49-4AA4-8CD9-EA94CFBA034A}" type="slidenum">
              <a:t>2</a:t>
            </a:fld>
            <a:endParaRPr lang="ru-RU"/>
          </a:p>
        </p:txBody>
      </p:sp>
    </p:spTree>
    <p:extLst>
      <p:ext uri="{BB962C8B-B14F-4D97-AF65-F5344CB8AC3E}">
        <p14:creationId xmlns:p14="http://schemas.microsoft.com/office/powerpoint/2010/main" val="20294024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a:solidFill>
                  <a:srgbClr val="0F1115"/>
                </a:solidFill>
                <a:highlight>
                  <a:srgbClr val="FFFFFF"/>
                </a:highlight>
              </a:rPr>
              <a:t>Script 2 introduced me to machine learning potentials with </a:t>
            </a:r>
            <a:r>
              <a:rPr lang="en-US" err="1">
                <a:solidFill>
                  <a:srgbClr val="0F1115"/>
                </a:solidFill>
                <a:highlight>
                  <a:srgbClr val="FFFFFF"/>
                </a:highlight>
              </a:rPr>
              <a:t>CHGNet</a:t>
            </a:r>
            <a:r>
              <a:rPr lang="en-US">
                <a:solidFill>
                  <a:srgbClr val="0F1115"/>
                </a:solidFill>
                <a:highlight>
                  <a:srgbClr val="FFFFFF"/>
                </a:highlight>
              </a:rPr>
              <a:t>. The results were dramatically better – </a:t>
            </a:r>
            <a:r>
              <a:rPr lang="en-US" err="1">
                <a:solidFill>
                  <a:srgbClr val="0F1115"/>
                </a:solidFill>
                <a:highlight>
                  <a:srgbClr val="FFFFFF"/>
                </a:highlight>
              </a:rPr>
              <a:t>fcc</a:t>
            </a:r>
            <a:r>
              <a:rPr lang="en-US">
                <a:solidFill>
                  <a:srgbClr val="0F1115"/>
                </a:solidFill>
                <a:highlight>
                  <a:srgbClr val="FFFFFF"/>
                </a:highlight>
              </a:rPr>
              <a:t> and hcp sites around -0.90 eV, right in the experimental range! I made several improvements: testing all four sites, saving trajectories to watch the relaxation path, adding GPU support for speed, and storing everything in an ASE database. The database is incredibly useful – now I can query all my results with simple commands. </a:t>
            </a:r>
            <a:endParaRPr lang="ru-RU"/>
          </a:p>
        </p:txBody>
      </p:sp>
      <p:sp>
        <p:nvSpPr>
          <p:cNvPr id="4" name="Номер слайда 3"/>
          <p:cNvSpPr>
            <a:spLocks noGrp="1"/>
          </p:cNvSpPr>
          <p:nvPr>
            <p:ph type="sldNum" sz="quarter" idx="5"/>
          </p:nvPr>
        </p:nvSpPr>
        <p:spPr/>
        <p:txBody>
          <a:bodyPr/>
          <a:lstStyle/>
          <a:p>
            <a:fld id="{ABEBB765-2D49-4AA4-8CD9-EA94CFBA034A}" type="slidenum">
              <a:t>3</a:t>
            </a:fld>
            <a:endParaRPr lang="ru-RU"/>
          </a:p>
        </p:txBody>
      </p:sp>
    </p:spTree>
    <p:extLst>
      <p:ext uri="{BB962C8B-B14F-4D97-AF65-F5344CB8AC3E}">
        <p14:creationId xmlns:p14="http://schemas.microsoft.com/office/powerpoint/2010/main" val="1959772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a:t>Script 3 used MACE. The bridge site gave -0.73 eV, very close to </a:t>
            </a:r>
            <a:r>
              <a:rPr lang="en-US" err="1"/>
              <a:t>CHGNet's</a:t>
            </a:r>
            <a:r>
              <a:rPr lang="en-US"/>
              <a:t> values. I experimented with different MACE models – 'small' (fast), 'medium' (balanced), and 'large' (accurate). I also tried float64 precision for better forces, though the energy change was tiny. The most interesting experiment was changing the force convergence criterion from 0.01 to 0.05 eV/Å – it ran faster but gave essentially the same energies. I  tried different surface builders like bcc111 for iron.</a:t>
            </a:r>
            <a:endParaRPr lang="en-US">
              <a:ea typeface="Calibri"/>
              <a:cs typeface="Calibri"/>
            </a:endParaRPr>
          </a:p>
        </p:txBody>
      </p:sp>
      <p:sp>
        <p:nvSpPr>
          <p:cNvPr id="4" name="Номер слайда 3"/>
          <p:cNvSpPr>
            <a:spLocks noGrp="1"/>
          </p:cNvSpPr>
          <p:nvPr>
            <p:ph type="sldNum" sz="quarter" idx="5"/>
          </p:nvPr>
        </p:nvSpPr>
        <p:spPr/>
        <p:txBody>
          <a:bodyPr/>
          <a:lstStyle/>
          <a:p>
            <a:fld id="{ABEBB765-2D49-4AA4-8CD9-EA94CFBA034A}" type="slidenum">
              <a:t>4</a:t>
            </a:fld>
            <a:endParaRPr lang="ru-RU"/>
          </a:p>
        </p:txBody>
      </p:sp>
    </p:spTree>
    <p:extLst>
      <p:ext uri="{BB962C8B-B14F-4D97-AF65-F5344CB8AC3E}">
        <p14:creationId xmlns:p14="http://schemas.microsoft.com/office/powerpoint/2010/main" val="39705723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a:t>Script 4 was the most complex – it automatically finds and tests all possible adsorption sites. The original script found 96 sites on my gold slab. I added ASE's </a:t>
            </a:r>
            <a:r>
              <a:rPr lang="en-US" err="1"/>
              <a:t>NeighborList</a:t>
            </a:r>
            <a:r>
              <a:rPr lang="en-US"/>
              <a:t> for better site detection, parallel processing with multiprocessing to speed things up, and comprehensive visualization that saves PNG images of every structure. The most stable sites were hollow positions at -0.82 eV. </a:t>
            </a:r>
            <a:endParaRPr lang="ru-RU"/>
          </a:p>
        </p:txBody>
      </p:sp>
      <p:sp>
        <p:nvSpPr>
          <p:cNvPr id="4" name="Номер слайда 3"/>
          <p:cNvSpPr>
            <a:spLocks noGrp="1"/>
          </p:cNvSpPr>
          <p:nvPr>
            <p:ph type="sldNum" sz="quarter" idx="5"/>
          </p:nvPr>
        </p:nvSpPr>
        <p:spPr/>
        <p:txBody>
          <a:bodyPr/>
          <a:lstStyle/>
          <a:p>
            <a:fld id="{ABEBB765-2D49-4AA4-8CD9-EA94CFBA034A}" type="slidenum">
              <a:t>5</a:t>
            </a:fld>
            <a:endParaRPr lang="ru-RU"/>
          </a:p>
        </p:txBody>
      </p:sp>
    </p:spTree>
    <p:extLst>
      <p:ext uri="{BB962C8B-B14F-4D97-AF65-F5344CB8AC3E}">
        <p14:creationId xmlns:p14="http://schemas.microsoft.com/office/powerpoint/2010/main" val="3306643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a:t>The last script originally used Open Babel, an external library. I systematically replaced every Open Babel call with ASE equivalents. Instead of reading a slab from a file, I built it with fcc111. Instead of manual positioning, I used </a:t>
            </a:r>
            <a:r>
              <a:rPr lang="en-US" err="1"/>
              <a:t>add_adsorbate</a:t>
            </a:r>
            <a:r>
              <a:rPr lang="en-US"/>
              <a:t>. Instead of Open Babel's optimizer, I used ASE's BFGS. The result is a pure ASE workflow that's cleaner, more flexible, and ready for advanced features. I even added an equation of state calculation for bulk gold – fitting the bulk modulus from first principles. </a:t>
            </a:r>
            <a:endParaRPr lang="en-US">
              <a:ea typeface="Calibri"/>
              <a:cs typeface="Calibri"/>
            </a:endParaRPr>
          </a:p>
        </p:txBody>
      </p:sp>
      <p:sp>
        <p:nvSpPr>
          <p:cNvPr id="4" name="Номер слайда 3"/>
          <p:cNvSpPr>
            <a:spLocks noGrp="1"/>
          </p:cNvSpPr>
          <p:nvPr>
            <p:ph type="sldNum" sz="quarter" idx="5"/>
          </p:nvPr>
        </p:nvSpPr>
        <p:spPr/>
        <p:txBody>
          <a:bodyPr/>
          <a:lstStyle/>
          <a:p>
            <a:fld id="{ABEBB765-2D49-4AA4-8CD9-EA94CFBA034A}" type="slidenum">
              <a:t>6</a:t>
            </a:fld>
            <a:endParaRPr lang="ru-RU"/>
          </a:p>
        </p:txBody>
      </p:sp>
    </p:spTree>
    <p:extLst>
      <p:ext uri="{BB962C8B-B14F-4D97-AF65-F5344CB8AC3E}">
        <p14:creationId xmlns:p14="http://schemas.microsoft.com/office/powerpoint/2010/main" val="25747990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3/19/2026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6044917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3/19/2026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4667130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3/19/2026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5754936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3/19/2026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655381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3/19/2026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8716217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3/19/2026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2341141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3/19/2026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586781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3/19/2026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632725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3/19/2026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061353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3/19/2026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628434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3/19/2026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1284426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3/19/2026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1925929"/>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A5D67320-FCFD-4931-AAF7-C6C853329C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p:cNvSpPr>
            <a:spLocks noGrp="1"/>
          </p:cNvSpPr>
          <p:nvPr>
            <p:ph type="ctrTitle"/>
          </p:nvPr>
        </p:nvSpPr>
        <p:spPr>
          <a:xfrm>
            <a:off x="703400" y="908651"/>
            <a:ext cx="3620882" cy="3640345"/>
          </a:xfrm>
        </p:spPr>
        <p:txBody>
          <a:bodyPr anchor="t">
            <a:normAutofit fontScale="90000"/>
          </a:bodyPr>
          <a:lstStyle/>
          <a:p>
            <a:r>
              <a:rPr lang="ru-RU" sz="4000" b="1"/>
              <a:t>Exploring ASE through Five Demonstration Scripts for Hg Adsorption on Au(111)</a:t>
            </a:r>
            <a:endParaRPr lang="ru-RU"/>
          </a:p>
          <a:p>
            <a:endParaRPr lang="ru-RU" sz="4000" b="1">
              <a:highlight>
                <a:srgbClr val="151517"/>
              </a:highlight>
            </a:endParaRPr>
          </a:p>
          <a:p>
            <a:endParaRPr lang="ru-RU" sz="4000" b="1">
              <a:highlight>
                <a:srgbClr val="151517"/>
              </a:highlight>
            </a:endParaRPr>
          </a:p>
        </p:txBody>
      </p:sp>
      <p:sp>
        <p:nvSpPr>
          <p:cNvPr id="3" name="Подзаголовок 2"/>
          <p:cNvSpPr>
            <a:spLocks noGrp="1"/>
          </p:cNvSpPr>
          <p:nvPr>
            <p:ph type="subTitle" idx="1"/>
          </p:nvPr>
        </p:nvSpPr>
        <p:spPr>
          <a:xfrm>
            <a:off x="703400" y="4945712"/>
            <a:ext cx="3380437" cy="850392"/>
          </a:xfrm>
        </p:spPr>
        <p:txBody>
          <a:bodyPr anchor="b">
            <a:normAutofit/>
          </a:bodyPr>
          <a:lstStyle/>
          <a:p>
            <a:r>
              <a:rPr lang="ru-RU" sz="1800">
                <a:latin typeface="Univers Condensed"/>
              </a:rPr>
              <a:t>Smirnova Liza</a:t>
            </a:r>
          </a:p>
        </p:txBody>
      </p:sp>
      <p:cxnSp>
        <p:nvCxnSpPr>
          <p:cNvPr id="13" name="Straight Connector 12">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3844763B-F2E8-8CB1-D26C-E26A41FA9F07}"/>
              </a:ext>
            </a:extLst>
          </p:cNvPr>
          <p:cNvPicPr>
            <a:picLocks noChangeAspect="1"/>
          </p:cNvPicPr>
          <p:nvPr/>
        </p:nvPicPr>
        <p:blipFill>
          <a:blip r:embed="rId2"/>
          <a:srcRect r="-5" b="2492"/>
          <a:stretch>
            <a:fillRect/>
          </a:stretch>
        </p:blipFill>
        <p:spPr>
          <a:xfrm>
            <a:off x="4876158" y="10"/>
            <a:ext cx="7315841" cy="6857990"/>
          </a:xfrm>
          <a:prstGeom prst="rect">
            <a:avLst/>
          </a:prstGeom>
        </p:spPr>
      </p:pic>
    </p:spTree>
    <p:extLst>
      <p:ext uri="{BB962C8B-B14F-4D97-AF65-F5344CB8AC3E}">
        <p14:creationId xmlns:p14="http://schemas.microsoft.com/office/powerpoint/2010/main" val="1351651579"/>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4F85412D-1702-9075-6593-12517C82D7B5}"/>
              </a:ext>
            </a:extLst>
          </p:cNvPr>
          <p:cNvSpPr>
            <a:spLocks noGrp="1"/>
          </p:cNvSpPr>
          <p:nvPr>
            <p:ph type="title"/>
          </p:nvPr>
        </p:nvSpPr>
        <p:spPr>
          <a:xfrm>
            <a:off x="704088" y="914400"/>
            <a:ext cx="10780776" cy="1180210"/>
          </a:xfrm>
        </p:spPr>
        <p:txBody>
          <a:bodyPr>
            <a:normAutofit/>
          </a:bodyPr>
          <a:lstStyle/>
          <a:p>
            <a:r>
              <a:rPr lang="ru-RU" b="1"/>
              <a:t> Script 1 – Lennard-Jones Baseline</a:t>
            </a:r>
            <a:endParaRPr lang="ru-RU"/>
          </a:p>
          <a:p>
            <a:endParaRPr lang="ru-RU" b="1"/>
          </a:p>
          <a:p>
            <a:endParaRPr lang="ru-RU" b="1">
              <a:highlight>
                <a:srgbClr val="151517"/>
              </a:highlight>
            </a:endParaRPr>
          </a:p>
        </p:txBody>
      </p:sp>
      <p:cxnSp>
        <p:nvCxnSpPr>
          <p:cNvPr id="34" name="Straight Connector 33">
            <a:extLst>
              <a:ext uri="{FF2B5EF4-FFF2-40B4-BE49-F238E27FC236}">
                <a16:creationId xmlns:a16="http://schemas.microsoft.com/office/drawing/2014/main" id="{4E495065-8864-87FB-2BCC-254769963E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Рисунок 3" descr="Изображение выглядит как текст, снимок экрана, Шрифт&#10;&#10;Содержимое, созданное искусственным интеллектом, может быть неверным.">
            <a:extLst>
              <a:ext uri="{FF2B5EF4-FFF2-40B4-BE49-F238E27FC236}">
                <a16:creationId xmlns:a16="http://schemas.microsoft.com/office/drawing/2014/main" id="{910C2642-1E28-A5B3-C252-14318BEEAC68}"/>
              </a:ext>
            </a:extLst>
          </p:cNvPr>
          <p:cNvPicPr>
            <a:picLocks noChangeAspect="1"/>
          </p:cNvPicPr>
          <p:nvPr/>
        </p:nvPicPr>
        <p:blipFill>
          <a:blip r:embed="rId3"/>
          <a:stretch>
            <a:fillRect/>
          </a:stretch>
        </p:blipFill>
        <p:spPr>
          <a:xfrm>
            <a:off x="854899" y="2286633"/>
            <a:ext cx="5440299" cy="3876421"/>
          </a:xfrm>
          <a:prstGeom prst="rect">
            <a:avLst/>
          </a:prstGeom>
        </p:spPr>
      </p:pic>
      <p:sp>
        <p:nvSpPr>
          <p:cNvPr id="3" name="Объект 2">
            <a:extLst>
              <a:ext uri="{FF2B5EF4-FFF2-40B4-BE49-F238E27FC236}">
                <a16:creationId xmlns:a16="http://schemas.microsoft.com/office/drawing/2014/main" id="{1818EB02-D389-A002-4B72-1E1BE5713165}"/>
              </a:ext>
            </a:extLst>
          </p:cNvPr>
          <p:cNvSpPr>
            <a:spLocks noGrp="1"/>
          </p:cNvSpPr>
          <p:nvPr>
            <p:ph idx="1"/>
          </p:nvPr>
        </p:nvSpPr>
        <p:spPr>
          <a:xfrm>
            <a:off x="6664960" y="2286000"/>
            <a:ext cx="4819903" cy="3775456"/>
          </a:xfrm>
        </p:spPr>
        <p:txBody>
          <a:bodyPr vert="horz" lIns="91440" tIns="45720" rIns="91440" bIns="45720" rtlCol="0" anchor="t">
            <a:noAutofit/>
          </a:bodyPr>
          <a:lstStyle/>
          <a:p>
            <a:pPr>
              <a:lnSpc>
                <a:spcPct val="100000"/>
              </a:lnSpc>
            </a:pPr>
            <a:r>
              <a:rPr lang="ru-RU" sz="1600">
                <a:latin typeface="Univers Condensed"/>
              </a:rPr>
              <a:t>A 3×3 Au(111) slab with 4 layers</a:t>
            </a:r>
          </a:p>
          <a:p>
            <a:pPr>
              <a:lnSpc>
                <a:spcPct val="100000"/>
              </a:lnSpc>
            </a:pPr>
            <a:r>
              <a:rPr lang="ru-RU" sz="1600">
                <a:latin typeface="Univers Condensed"/>
              </a:rPr>
              <a:t>Lennard-Jones potential with explicit parameters for Hg-Au interaction</a:t>
            </a:r>
          </a:p>
          <a:p>
            <a:pPr>
              <a:lnSpc>
                <a:spcPct val="100000"/>
              </a:lnSpc>
            </a:pPr>
            <a:r>
              <a:rPr lang="ru-RU" sz="1600">
                <a:latin typeface="Univers Condensed"/>
              </a:rPr>
              <a:t>Tests four different adsorption sites: ontop, fcc, hcp, and bridge</a:t>
            </a:r>
          </a:p>
          <a:p>
            <a:pPr>
              <a:lnSpc>
                <a:spcPct val="100000"/>
              </a:lnSpc>
            </a:pPr>
            <a:r>
              <a:rPr lang="ru-RU" sz="1600">
                <a:latin typeface="Univers Condensed"/>
              </a:rPr>
              <a:t>Calculates adsorption energy for each site</a:t>
            </a:r>
          </a:p>
          <a:p>
            <a:pPr>
              <a:lnSpc>
                <a:spcPct val="100000"/>
              </a:lnSpc>
            </a:pPr>
            <a:endParaRPr lang="ru-RU" sz="1600" dirty="0">
              <a:latin typeface="Univers Condensed"/>
            </a:endParaRPr>
          </a:p>
          <a:p>
            <a:pPr marL="0" indent="0">
              <a:lnSpc>
                <a:spcPct val="100000"/>
              </a:lnSpc>
              <a:buNone/>
            </a:pPr>
            <a:r>
              <a:rPr lang="ru-RU" sz="1600" b="1">
                <a:latin typeface="Univers Condensed"/>
              </a:rPr>
              <a:t>Key modifications made:</a:t>
            </a:r>
          </a:p>
          <a:p>
            <a:pPr>
              <a:lnSpc>
                <a:spcPct val="100000"/>
              </a:lnSpc>
            </a:pPr>
            <a:r>
              <a:rPr lang="ru-RU" sz="1600">
                <a:latin typeface="Univers Condensed"/>
              </a:rPr>
              <a:t>Added explicit LJ parameters (epsilon=0.05, sigma=2.8)</a:t>
            </a:r>
          </a:p>
          <a:p>
            <a:pPr>
              <a:lnSpc>
                <a:spcPct val="100000"/>
              </a:lnSpc>
            </a:pPr>
            <a:r>
              <a:rPr lang="ru-RU" sz="1600">
                <a:latin typeface="Univers Condensed"/>
              </a:rPr>
              <a:t>Tested multiple sites ('ontop', 'fcc', 'hcp', 'bridge')</a:t>
            </a:r>
          </a:p>
          <a:p>
            <a:pPr>
              <a:lnSpc>
                <a:spcPct val="100000"/>
              </a:lnSpc>
            </a:pPr>
            <a:r>
              <a:rPr lang="ru-RU" sz="1600">
                <a:latin typeface="Univers Condensed"/>
              </a:rPr>
              <a:t>Added visualization (view(), trajectory saving)</a:t>
            </a:r>
          </a:p>
          <a:p>
            <a:pPr marL="0" indent="0">
              <a:lnSpc>
                <a:spcPct val="100000"/>
              </a:lnSpc>
              <a:buNone/>
            </a:pPr>
            <a:endParaRPr lang="ru-RU" sz="1400" dirty="0">
              <a:latin typeface="Univers Condensed"/>
            </a:endParaRPr>
          </a:p>
          <a:p>
            <a:pPr>
              <a:lnSpc>
                <a:spcPct val="100000"/>
              </a:lnSpc>
            </a:pPr>
            <a:endParaRPr lang="ru-RU" sz="1400" dirty="0">
              <a:latin typeface="Univers Condensed"/>
            </a:endParaRPr>
          </a:p>
        </p:txBody>
      </p:sp>
    </p:spTree>
    <p:extLst>
      <p:ext uri="{BB962C8B-B14F-4D97-AF65-F5344CB8AC3E}">
        <p14:creationId xmlns:p14="http://schemas.microsoft.com/office/powerpoint/2010/main" val="13710863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8">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F51630FA-7B58-2CF0-010A-E2C2A148CD02}"/>
              </a:ext>
            </a:extLst>
          </p:cNvPr>
          <p:cNvSpPr>
            <a:spLocks noGrp="1"/>
          </p:cNvSpPr>
          <p:nvPr>
            <p:ph type="title"/>
          </p:nvPr>
        </p:nvSpPr>
        <p:spPr>
          <a:xfrm>
            <a:off x="704088" y="914400"/>
            <a:ext cx="10687812" cy="798194"/>
          </a:xfrm>
        </p:spPr>
        <p:txBody>
          <a:bodyPr>
            <a:normAutofit/>
          </a:bodyPr>
          <a:lstStyle/>
          <a:p>
            <a:r>
              <a:rPr lang="ru-RU" b="1">
                <a:highlight>
                  <a:srgbClr val="FFFFFF"/>
                </a:highlight>
              </a:rPr>
              <a:t>Script 2 – Machine Learning with CHGNet</a:t>
            </a:r>
            <a:endParaRPr lang="ru-RU"/>
          </a:p>
          <a:p>
            <a:endParaRPr lang="ru-RU"/>
          </a:p>
        </p:txBody>
      </p:sp>
      <p:cxnSp>
        <p:nvCxnSpPr>
          <p:cNvPr id="16" name="Straight Connector 10">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Рисунок 3" descr="Изображение выглядит как текст, снимок экрана, Шрифт&#10;&#10;Содержимое, созданное искусственным интеллектом, может быть неверным.">
            <a:extLst>
              <a:ext uri="{FF2B5EF4-FFF2-40B4-BE49-F238E27FC236}">
                <a16:creationId xmlns:a16="http://schemas.microsoft.com/office/drawing/2014/main" id="{8A84DDE5-F137-52BD-8D54-2C6C64BF165F}"/>
              </a:ext>
            </a:extLst>
          </p:cNvPr>
          <p:cNvPicPr>
            <a:picLocks noChangeAspect="1"/>
          </p:cNvPicPr>
          <p:nvPr/>
        </p:nvPicPr>
        <p:blipFill>
          <a:blip r:embed="rId3"/>
          <a:stretch>
            <a:fillRect/>
          </a:stretch>
        </p:blipFill>
        <p:spPr>
          <a:xfrm>
            <a:off x="1240818" y="1869439"/>
            <a:ext cx="5190752" cy="4139625"/>
          </a:xfrm>
          <a:prstGeom prst="rect">
            <a:avLst/>
          </a:prstGeom>
        </p:spPr>
      </p:pic>
      <p:sp>
        <p:nvSpPr>
          <p:cNvPr id="3" name="Объект 2">
            <a:extLst>
              <a:ext uri="{FF2B5EF4-FFF2-40B4-BE49-F238E27FC236}">
                <a16:creationId xmlns:a16="http://schemas.microsoft.com/office/drawing/2014/main" id="{EA6352F7-4AA3-9829-32A6-5BEE7ADD0EEC}"/>
              </a:ext>
            </a:extLst>
          </p:cNvPr>
          <p:cNvSpPr>
            <a:spLocks noGrp="1"/>
          </p:cNvSpPr>
          <p:nvPr>
            <p:ph idx="1"/>
          </p:nvPr>
        </p:nvSpPr>
        <p:spPr>
          <a:xfrm>
            <a:off x="7200900" y="1849121"/>
            <a:ext cx="4191001" cy="4139626"/>
          </a:xfrm>
        </p:spPr>
        <p:txBody>
          <a:bodyPr vert="horz" lIns="91440" tIns="45720" rIns="91440" bIns="45720" rtlCol="0" anchor="b">
            <a:normAutofit/>
          </a:bodyPr>
          <a:lstStyle/>
          <a:p>
            <a:pPr marL="0" indent="0">
              <a:buNone/>
            </a:pPr>
            <a:r>
              <a:rPr lang="ru-RU" b="1">
                <a:latin typeface="Univers Condensed"/>
              </a:rPr>
              <a:t>Key modifications made:</a:t>
            </a:r>
          </a:p>
          <a:p>
            <a:r>
              <a:rPr lang="ru-RU">
                <a:latin typeface="Univers Condensed"/>
              </a:rPr>
              <a:t>Expanded site list to ['fcc', 'hcp', 'ontop', 'bridge']</a:t>
            </a:r>
          </a:p>
          <a:p>
            <a:r>
              <a:rPr lang="ru-RU">
                <a:latin typeface="Univers Condensed"/>
              </a:rPr>
              <a:t>Added trajectory saving and force checks</a:t>
            </a:r>
          </a:p>
          <a:p>
            <a:r>
              <a:rPr lang="ru-RU">
                <a:latin typeface="Univers Condensed"/>
              </a:rPr>
              <a:t>Enabled GPU support</a:t>
            </a:r>
          </a:p>
          <a:p>
            <a:r>
              <a:rPr lang="ru-RU">
                <a:latin typeface="Univers Condensed"/>
              </a:rPr>
              <a:t>Stored results in ASE database</a:t>
            </a:r>
          </a:p>
          <a:p>
            <a:pPr marL="0" indent="0">
              <a:buNone/>
            </a:pPr>
            <a:endParaRPr lang="ru-RU" dirty="0">
              <a:latin typeface="Univers Condensed"/>
            </a:endParaRPr>
          </a:p>
        </p:txBody>
      </p:sp>
      <p:cxnSp>
        <p:nvCxnSpPr>
          <p:cNvPr id="17" name="Straight Connector 12">
            <a:extLst>
              <a:ext uri="{FF2B5EF4-FFF2-40B4-BE49-F238E27FC236}">
                <a16:creationId xmlns:a16="http://schemas.microsoft.com/office/drawing/2014/main" id="{8E0104E4-99BC-494F-8342-F250828E574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88537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0D4231E-6A2E-95E1-7CDF-DFE12B2B5014}"/>
            </a:ext>
          </a:extLst>
        </p:cNvPr>
        <p:cNvGrpSpPr/>
        <p:nvPr/>
      </p:nvGrpSpPr>
      <p:grpSpPr>
        <a:xfrm>
          <a:off x="0" y="0"/>
          <a:ext cx="0" cy="0"/>
          <a:chOff x="0" y="0"/>
          <a:chExt cx="0" cy="0"/>
        </a:xfrm>
      </p:grpSpPr>
      <p:sp useBgFill="1">
        <p:nvSpPr>
          <p:cNvPr id="14" name="Rectangle 8">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439A6DB7-2C58-63AA-BE58-2FFD3C794DF3}"/>
              </a:ext>
            </a:extLst>
          </p:cNvPr>
          <p:cNvSpPr>
            <a:spLocks noGrp="1"/>
          </p:cNvSpPr>
          <p:nvPr>
            <p:ph type="title"/>
          </p:nvPr>
        </p:nvSpPr>
        <p:spPr>
          <a:xfrm>
            <a:off x="704088" y="914400"/>
            <a:ext cx="10687812" cy="798194"/>
          </a:xfrm>
        </p:spPr>
        <p:txBody>
          <a:bodyPr>
            <a:normAutofit/>
          </a:bodyPr>
          <a:lstStyle/>
          <a:p>
            <a:r>
              <a:rPr lang="ru-RU" b="1">
                <a:highlight>
                  <a:srgbClr val="FFFFFF"/>
                </a:highlight>
              </a:rPr>
              <a:t>Script 3 – MACE Potential</a:t>
            </a:r>
            <a:endParaRPr lang="ru-RU"/>
          </a:p>
          <a:p>
            <a:endParaRPr lang="ru-RU"/>
          </a:p>
        </p:txBody>
      </p:sp>
      <p:cxnSp>
        <p:nvCxnSpPr>
          <p:cNvPr id="15" name="Straight Connector 10">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Рисунок 3" descr="Изображение выглядит как текст, снимок экрана, Шрифт&#10;&#10;Содержимое, созданное искусственным интеллектом, может быть неверным.">
            <a:extLst>
              <a:ext uri="{FF2B5EF4-FFF2-40B4-BE49-F238E27FC236}">
                <a16:creationId xmlns:a16="http://schemas.microsoft.com/office/drawing/2014/main" id="{BF52DB2E-A5AF-5420-6803-31941DC3BBCD}"/>
              </a:ext>
            </a:extLst>
          </p:cNvPr>
          <p:cNvPicPr>
            <a:picLocks noChangeAspect="1"/>
          </p:cNvPicPr>
          <p:nvPr/>
        </p:nvPicPr>
        <p:blipFill>
          <a:blip r:embed="rId3"/>
          <a:stretch>
            <a:fillRect/>
          </a:stretch>
        </p:blipFill>
        <p:spPr>
          <a:xfrm>
            <a:off x="868721" y="1869439"/>
            <a:ext cx="5934946" cy="4139625"/>
          </a:xfrm>
          <a:prstGeom prst="rect">
            <a:avLst/>
          </a:prstGeom>
        </p:spPr>
      </p:pic>
      <p:sp>
        <p:nvSpPr>
          <p:cNvPr id="3" name="Объект 2">
            <a:extLst>
              <a:ext uri="{FF2B5EF4-FFF2-40B4-BE49-F238E27FC236}">
                <a16:creationId xmlns:a16="http://schemas.microsoft.com/office/drawing/2014/main" id="{64B95B54-5C90-C596-D861-7552064DCEA1}"/>
              </a:ext>
            </a:extLst>
          </p:cNvPr>
          <p:cNvSpPr>
            <a:spLocks noGrp="1"/>
          </p:cNvSpPr>
          <p:nvPr>
            <p:ph idx="1"/>
          </p:nvPr>
        </p:nvSpPr>
        <p:spPr>
          <a:xfrm>
            <a:off x="7200900" y="1849121"/>
            <a:ext cx="4191001" cy="4139626"/>
          </a:xfrm>
        </p:spPr>
        <p:txBody>
          <a:bodyPr vert="horz" lIns="91440" tIns="45720" rIns="91440" bIns="45720" rtlCol="0" anchor="b">
            <a:normAutofit/>
          </a:bodyPr>
          <a:lstStyle/>
          <a:p>
            <a:pPr marL="0" indent="0">
              <a:buNone/>
            </a:pPr>
            <a:r>
              <a:rPr lang="ru-RU" b="1">
                <a:latin typeface="Univers Condensed"/>
              </a:rPr>
              <a:t>Key modifications made:</a:t>
            </a:r>
          </a:p>
          <a:p>
            <a:r>
              <a:rPr lang="ru-RU">
                <a:latin typeface="Univers Condensed"/>
              </a:rPr>
              <a:t>Looped over four sites</a:t>
            </a:r>
          </a:p>
          <a:p>
            <a:r>
              <a:rPr lang="ru-RU">
                <a:latin typeface="Univers Condensed"/>
              </a:rPr>
              <a:t>Experimented with force convergence (fmax from 0.01 to 0.05)</a:t>
            </a:r>
          </a:p>
          <a:p>
            <a:r>
              <a:rPr lang="ru-RU">
                <a:latin typeface="Univers Condensed"/>
              </a:rPr>
              <a:t>Switched precision (float32 vs float64)</a:t>
            </a:r>
          </a:p>
          <a:p>
            <a:r>
              <a:rPr lang="ru-RU">
                <a:latin typeface="Univers Condensed"/>
              </a:rPr>
              <a:t>Tried different MACE models (small, medium, large)</a:t>
            </a:r>
          </a:p>
          <a:p>
            <a:pPr marL="0" indent="0">
              <a:buNone/>
            </a:pPr>
            <a:endParaRPr lang="ru-RU" dirty="0">
              <a:latin typeface="Univers Condensed"/>
            </a:endParaRPr>
          </a:p>
        </p:txBody>
      </p:sp>
      <p:cxnSp>
        <p:nvCxnSpPr>
          <p:cNvPr id="13" name="Straight Connector 12">
            <a:extLst>
              <a:ext uri="{FF2B5EF4-FFF2-40B4-BE49-F238E27FC236}">
                <a16:creationId xmlns:a16="http://schemas.microsoft.com/office/drawing/2014/main" id="{8E0104E4-99BC-494F-8342-F250828E574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06120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BDB278B-7ADA-5C2C-CBF8-B943F12E57D9}"/>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551DF480-36F7-68FE-CC51-18DED66BBADC}"/>
              </a:ext>
            </a:extLst>
          </p:cNvPr>
          <p:cNvSpPr>
            <a:spLocks noGrp="1"/>
          </p:cNvSpPr>
          <p:nvPr>
            <p:ph type="title"/>
          </p:nvPr>
        </p:nvSpPr>
        <p:spPr>
          <a:xfrm>
            <a:off x="704088" y="914400"/>
            <a:ext cx="10687812" cy="798194"/>
          </a:xfrm>
        </p:spPr>
        <p:txBody>
          <a:bodyPr>
            <a:normAutofit/>
          </a:bodyPr>
          <a:lstStyle/>
          <a:p>
            <a:r>
              <a:rPr lang="ru-RU" sz="3700" b="1">
                <a:highlight>
                  <a:srgbClr val="FFFFFF"/>
                </a:highlight>
              </a:rPr>
              <a:t>Script 4 – Automated Site Screening with LJ</a:t>
            </a:r>
            <a:endParaRPr lang="ru-RU" sz="3700"/>
          </a:p>
          <a:p>
            <a:endParaRPr lang="ru-RU" sz="3700" b="1">
              <a:highlight>
                <a:srgbClr val="FFFFFF"/>
              </a:highlight>
            </a:endParaRPr>
          </a:p>
          <a:p>
            <a:endParaRPr lang="ru-RU" sz="3700"/>
          </a:p>
        </p:txBody>
      </p:sp>
      <p:cxnSp>
        <p:nvCxnSpPr>
          <p:cNvPr id="21" name="Straight Connector 20">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Рисунок 4" descr="Изображение выглядит как текст, снимок экрана, диаграмма, карта&#10;&#10;Содержимое, созданное искусственным интеллектом, может быть неверным.">
            <a:extLst>
              <a:ext uri="{FF2B5EF4-FFF2-40B4-BE49-F238E27FC236}">
                <a16:creationId xmlns:a16="http://schemas.microsoft.com/office/drawing/2014/main" id="{49C3A5C4-E461-D31C-27FB-B5F5DEB44357}"/>
              </a:ext>
            </a:extLst>
          </p:cNvPr>
          <p:cNvPicPr>
            <a:picLocks noChangeAspect="1"/>
          </p:cNvPicPr>
          <p:nvPr/>
        </p:nvPicPr>
        <p:blipFill>
          <a:blip r:embed="rId3"/>
          <a:stretch>
            <a:fillRect/>
          </a:stretch>
        </p:blipFill>
        <p:spPr>
          <a:xfrm>
            <a:off x="800100" y="2246456"/>
            <a:ext cx="6072188" cy="3370063"/>
          </a:xfrm>
          <a:prstGeom prst="rect">
            <a:avLst/>
          </a:prstGeom>
        </p:spPr>
      </p:pic>
      <p:sp>
        <p:nvSpPr>
          <p:cNvPr id="3" name="Объект 2">
            <a:extLst>
              <a:ext uri="{FF2B5EF4-FFF2-40B4-BE49-F238E27FC236}">
                <a16:creationId xmlns:a16="http://schemas.microsoft.com/office/drawing/2014/main" id="{36116359-2418-0292-D792-78560DDDEBA5}"/>
              </a:ext>
            </a:extLst>
          </p:cNvPr>
          <p:cNvSpPr>
            <a:spLocks noGrp="1"/>
          </p:cNvSpPr>
          <p:nvPr>
            <p:ph idx="1"/>
          </p:nvPr>
        </p:nvSpPr>
        <p:spPr>
          <a:xfrm>
            <a:off x="7200900" y="2245361"/>
            <a:ext cx="4191001" cy="4139626"/>
          </a:xfrm>
        </p:spPr>
        <p:txBody>
          <a:bodyPr vert="horz" lIns="91440" tIns="45720" rIns="91440" bIns="45720" rtlCol="0" anchor="t">
            <a:noAutofit/>
          </a:bodyPr>
          <a:lstStyle/>
          <a:p>
            <a:pPr marL="0" indent="0">
              <a:lnSpc>
                <a:spcPct val="100000"/>
              </a:lnSpc>
              <a:buNone/>
            </a:pPr>
            <a:r>
              <a:rPr lang="ru-RU" sz="1400" b="1">
                <a:latin typeface="Univers Condensed"/>
              </a:rPr>
              <a:t>Key modifications made:</a:t>
            </a:r>
          </a:p>
          <a:p>
            <a:pPr>
              <a:lnSpc>
                <a:spcPct val="100000"/>
              </a:lnSpc>
            </a:pPr>
            <a:r>
              <a:rPr lang="ru-RU" sz="1400">
                <a:latin typeface="Univers Condensed"/>
              </a:rPr>
              <a:t>Used ASE NeighborList for site detection</a:t>
            </a:r>
          </a:p>
          <a:p>
            <a:pPr>
              <a:lnSpc>
                <a:spcPct val="100000"/>
              </a:lnSpc>
            </a:pPr>
            <a:r>
              <a:rPr lang="ru-RU" sz="1400">
                <a:latin typeface="Univers Condensed"/>
              </a:rPr>
              <a:t>Added parallel processing with multiprocessing</a:t>
            </a:r>
          </a:p>
          <a:p>
            <a:pPr>
              <a:lnSpc>
                <a:spcPct val="100000"/>
              </a:lnSpc>
            </a:pPr>
            <a:r>
              <a:rPr lang="ru-RU" sz="1400">
                <a:latin typeface="Univers Condensed"/>
              </a:rPr>
              <a:t>Comprehensive visualization (PNG exports, trajectories)</a:t>
            </a:r>
          </a:p>
          <a:p>
            <a:pPr>
              <a:lnSpc>
                <a:spcPct val="100000"/>
              </a:lnSpc>
            </a:pPr>
            <a:r>
              <a:rPr lang="ru-RU" sz="1400">
                <a:latin typeface="Univers Condensed"/>
              </a:rPr>
              <a:t>Stored all results in ASE database</a:t>
            </a:r>
          </a:p>
          <a:p>
            <a:pPr marL="0" indent="0">
              <a:lnSpc>
                <a:spcPct val="100000"/>
              </a:lnSpc>
              <a:buNone/>
            </a:pPr>
            <a:r>
              <a:rPr lang="ru-RU" sz="1400" b="1">
                <a:latin typeface="Univers Condensed"/>
              </a:rPr>
              <a:t>Results:</a:t>
            </a:r>
          </a:p>
          <a:p>
            <a:pPr>
              <a:lnSpc>
                <a:spcPct val="100000"/>
              </a:lnSpc>
            </a:pPr>
            <a:r>
              <a:rPr lang="ru-RU" sz="1400">
                <a:latin typeface="Univers Condensed"/>
              </a:rPr>
              <a:t>Total sites tested: 33 (9 top, 16 bridge, 8 hollow)</a:t>
            </a:r>
          </a:p>
          <a:p>
            <a:pPr>
              <a:lnSpc>
                <a:spcPct val="100000"/>
              </a:lnSpc>
            </a:pPr>
            <a:r>
              <a:rPr lang="ru-RU" sz="1400">
                <a:latin typeface="Univers Condensed"/>
              </a:rPr>
              <a:t>Most stable: hollow sites at –0.8227 eV</a:t>
            </a:r>
          </a:p>
          <a:p>
            <a:pPr>
              <a:lnSpc>
                <a:spcPct val="100000"/>
              </a:lnSpc>
            </a:pPr>
            <a:r>
              <a:rPr lang="ru-RU" sz="1400">
                <a:latin typeface="Univers Condensed"/>
              </a:rPr>
              <a:t>All equivalent sites gave identical energies (symmetry confirmed)</a:t>
            </a:r>
          </a:p>
          <a:p>
            <a:pPr marL="0" indent="0">
              <a:lnSpc>
                <a:spcPct val="100000"/>
              </a:lnSpc>
              <a:buNone/>
            </a:pPr>
            <a:endParaRPr lang="ru-RU" sz="1400" dirty="0">
              <a:highlight>
                <a:srgbClr val="00FF00"/>
              </a:highlight>
              <a:latin typeface="Univers Condensed"/>
            </a:endParaRPr>
          </a:p>
        </p:txBody>
      </p:sp>
      <p:cxnSp>
        <p:nvCxnSpPr>
          <p:cNvPr id="23" name="Straight Connector 22">
            <a:extLst>
              <a:ext uri="{FF2B5EF4-FFF2-40B4-BE49-F238E27FC236}">
                <a16:creationId xmlns:a16="http://schemas.microsoft.com/office/drawing/2014/main" id="{8E0104E4-99BC-494F-8342-F250828E574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05082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E76BB27-07F1-464A-F332-23D5CECF54C5}"/>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55B4E7C8-FDD4-2C03-D7D2-6EA8E2E85F69}"/>
              </a:ext>
            </a:extLst>
          </p:cNvPr>
          <p:cNvSpPr>
            <a:spLocks noGrp="1"/>
          </p:cNvSpPr>
          <p:nvPr>
            <p:ph type="title"/>
          </p:nvPr>
        </p:nvSpPr>
        <p:spPr>
          <a:xfrm>
            <a:off x="704088" y="914400"/>
            <a:ext cx="10780776" cy="1180210"/>
          </a:xfrm>
        </p:spPr>
        <p:txBody>
          <a:bodyPr>
            <a:normAutofit/>
          </a:bodyPr>
          <a:lstStyle/>
          <a:p>
            <a:r>
              <a:rPr lang="ru-RU" sz="3700" b="1">
                <a:highlight>
                  <a:srgbClr val="FFFFFF"/>
                </a:highlight>
              </a:rPr>
              <a:t>Script 5 – Transition from Open Babel to ASE</a:t>
            </a:r>
            <a:endParaRPr lang="ru-RU" sz="3700"/>
          </a:p>
          <a:p>
            <a:endParaRPr lang="ru-RU" sz="3700" b="1">
              <a:highlight>
                <a:srgbClr val="FFFFFF"/>
              </a:highlight>
            </a:endParaRPr>
          </a:p>
          <a:p>
            <a:endParaRPr lang="ru-RU" sz="3700" b="1">
              <a:highlight>
                <a:srgbClr val="FFFFFF"/>
              </a:highlight>
            </a:endParaRPr>
          </a:p>
          <a:p>
            <a:endParaRPr lang="ru-RU" sz="3700"/>
          </a:p>
        </p:txBody>
      </p:sp>
      <p:cxnSp>
        <p:nvCxnSpPr>
          <p:cNvPr id="12" name="Straight Connector 11">
            <a:extLst>
              <a:ext uri="{FF2B5EF4-FFF2-40B4-BE49-F238E27FC236}">
                <a16:creationId xmlns:a16="http://schemas.microsoft.com/office/drawing/2014/main" id="{4E495065-8864-87FB-2BCC-254769963E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Объект 2">
            <a:extLst>
              <a:ext uri="{FF2B5EF4-FFF2-40B4-BE49-F238E27FC236}">
                <a16:creationId xmlns:a16="http://schemas.microsoft.com/office/drawing/2014/main" id="{A3E8EE91-51DA-1E20-381E-D5F6E1F0F1AE}"/>
              </a:ext>
            </a:extLst>
          </p:cNvPr>
          <p:cNvSpPr>
            <a:spLocks noGrp="1"/>
          </p:cNvSpPr>
          <p:nvPr>
            <p:ph idx="1"/>
          </p:nvPr>
        </p:nvSpPr>
        <p:spPr>
          <a:xfrm>
            <a:off x="6664960" y="2346960"/>
            <a:ext cx="4819903" cy="3775456"/>
          </a:xfrm>
        </p:spPr>
        <p:txBody>
          <a:bodyPr vert="horz" lIns="91440" tIns="45720" rIns="91440" bIns="45720" rtlCol="0" anchor="t">
            <a:normAutofit/>
          </a:bodyPr>
          <a:lstStyle/>
          <a:p>
            <a:pPr marL="0" indent="0">
              <a:buNone/>
            </a:pPr>
            <a:r>
              <a:rPr lang="ru-RU" b="1">
                <a:latin typeface="Univers Condensed"/>
              </a:rPr>
              <a:t>Key modifications made:</a:t>
            </a:r>
          </a:p>
          <a:p>
            <a:r>
              <a:rPr lang="ru-RU">
                <a:latin typeface="Univers Condensed"/>
              </a:rPr>
              <a:t>Replaced Open Babel file reading with ASE's fcc111 builder</a:t>
            </a:r>
          </a:p>
          <a:p>
            <a:r>
              <a:rPr lang="ru-RU">
                <a:latin typeface="Univers Condensed"/>
              </a:rPr>
              <a:t>Used add_adsorbate instead of manual positioning</a:t>
            </a:r>
          </a:p>
          <a:p>
            <a:r>
              <a:rPr lang="ru-RU">
                <a:latin typeface="Univers Condensed"/>
              </a:rPr>
              <a:t>Applied FixAtoms constraints</a:t>
            </a:r>
          </a:p>
          <a:p>
            <a:r>
              <a:rPr lang="ru-RU">
                <a:latin typeface="Univers Condensed"/>
              </a:rPr>
              <a:t>Switched from UFF to Lennard-Jones calculator (since UFF gives unphysical results)</a:t>
            </a:r>
          </a:p>
          <a:p>
            <a:pPr marL="0" indent="0">
              <a:buNone/>
            </a:pPr>
            <a:endParaRPr lang="ru-RU" dirty="0">
              <a:latin typeface="Univers Condensed"/>
            </a:endParaRPr>
          </a:p>
        </p:txBody>
      </p:sp>
      <p:graphicFrame>
        <p:nvGraphicFramePr>
          <p:cNvPr id="5" name="Таблица 4">
            <a:extLst>
              <a:ext uri="{FF2B5EF4-FFF2-40B4-BE49-F238E27FC236}">
                <a16:creationId xmlns:a16="http://schemas.microsoft.com/office/drawing/2014/main" id="{2C196A12-B397-267C-31C3-CA633A382B0F}"/>
              </a:ext>
            </a:extLst>
          </p:cNvPr>
          <p:cNvGraphicFramePr>
            <a:graphicFrameLocks noGrp="1"/>
          </p:cNvGraphicFramePr>
          <p:nvPr>
            <p:extLst>
              <p:ext uri="{D42A27DB-BD31-4B8C-83A1-F6EECF244321}">
                <p14:modId xmlns:p14="http://schemas.microsoft.com/office/powerpoint/2010/main" val="2244444825"/>
              </p:ext>
            </p:extLst>
          </p:nvPr>
        </p:nvGraphicFramePr>
        <p:xfrm>
          <a:off x="800098" y="2663531"/>
          <a:ext cx="5549904" cy="3122627"/>
        </p:xfrm>
        <a:graphic>
          <a:graphicData uri="http://schemas.openxmlformats.org/drawingml/2006/table">
            <a:tbl>
              <a:tblPr firstRow="1" bandRow="1">
                <a:tableStyleId>{9D7B26C5-4107-4FEC-AEDC-1716B250A1EF}</a:tableStyleId>
              </a:tblPr>
              <a:tblGrid>
                <a:gridCol w="1694876">
                  <a:extLst>
                    <a:ext uri="{9D8B030D-6E8A-4147-A177-3AD203B41FA5}">
                      <a16:colId xmlns:a16="http://schemas.microsoft.com/office/drawing/2014/main" val="7098103"/>
                    </a:ext>
                  </a:extLst>
                </a:gridCol>
                <a:gridCol w="2000529">
                  <a:extLst>
                    <a:ext uri="{9D8B030D-6E8A-4147-A177-3AD203B41FA5}">
                      <a16:colId xmlns:a16="http://schemas.microsoft.com/office/drawing/2014/main" val="2643203449"/>
                    </a:ext>
                  </a:extLst>
                </a:gridCol>
                <a:gridCol w="1854499">
                  <a:extLst>
                    <a:ext uri="{9D8B030D-6E8A-4147-A177-3AD203B41FA5}">
                      <a16:colId xmlns:a16="http://schemas.microsoft.com/office/drawing/2014/main" val="2963370373"/>
                    </a:ext>
                  </a:extLst>
                </a:gridCol>
              </a:tblGrid>
              <a:tr h="827476">
                <a:tc>
                  <a:txBody>
                    <a:bodyPr/>
                    <a:lstStyle/>
                    <a:p>
                      <a:pPr algn="l">
                        <a:lnSpc>
                          <a:spcPts val="1875"/>
                        </a:lnSpc>
                        <a:buNone/>
                      </a:pPr>
                      <a:r>
                        <a:rPr lang="af-ZA" sz="1500" cap="all" spc="60">
                          <a:solidFill>
                            <a:srgbClr val="000000"/>
                          </a:solidFill>
                          <a:effectLst/>
                          <a:latin typeface="Univers Condensed"/>
                        </a:rPr>
                        <a:t>Method</a:t>
                      </a:r>
                    </a:p>
                  </a:txBody>
                  <a:tcPr marL="111852" marR="186421" marT="111852" marB="111852" anchor="b"/>
                </a:tc>
                <a:tc>
                  <a:txBody>
                    <a:bodyPr/>
                    <a:lstStyle/>
                    <a:p>
                      <a:pPr algn="l">
                        <a:lnSpc>
                          <a:spcPts val="1875"/>
                        </a:lnSpc>
                        <a:buNone/>
                      </a:pPr>
                      <a:r>
                        <a:rPr lang="af-ZA" sz="1500" cap="all" spc="60">
                          <a:solidFill>
                            <a:srgbClr val="000000"/>
                          </a:solidFill>
                          <a:effectLst/>
                          <a:latin typeface="Univers Condensed"/>
                        </a:rPr>
                        <a:t>Slab Energy (eV)</a:t>
                      </a:r>
                    </a:p>
                  </a:txBody>
                  <a:tcPr marL="186421" marR="186421" marT="111852" marB="111852" anchor="b"/>
                </a:tc>
                <a:tc>
                  <a:txBody>
                    <a:bodyPr/>
                    <a:lstStyle/>
                    <a:p>
                      <a:pPr algn="l">
                        <a:lnSpc>
                          <a:spcPts val="1875"/>
                        </a:lnSpc>
                        <a:buNone/>
                      </a:pPr>
                      <a:r>
                        <a:rPr lang="af-ZA" sz="1500" cap="all" spc="60">
                          <a:solidFill>
                            <a:srgbClr val="000000"/>
                          </a:solidFill>
                          <a:effectLst/>
                          <a:latin typeface="Univers Condensed"/>
                        </a:rPr>
                        <a:t>Adsorption Energy (eV)</a:t>
                      </a:r>
                    </a:p>
                  </a:txBody>
                  <a:tcPr marL="186421" marR="186421" marT="111852" marB="111852" anchor="b"/>
                </a:tc>
                <a:extLst>
                  <a:ext uri="{0D108BD9-81ED-4DB2-BD59-A6C34878D82A}">
                    <a16:rowId xmlns:a16="http://schemas.microsoft.com/office/drawing/2014/main" val="1637399554"/>
                  </a:ext>
                </a:extLst>
              </a:tr>
              <a:tr h="863439">
                <a:tc>
                  <a:txBody>
                    <a:bodyPr/>
                    <a:lstStyle/>
                    <a:p>
                      <a:pPr>
                        <a:lnSpc>
                          <a:spcPts val="1875"/>
                        </a:lnSpc>
                        <a:buNone/>
                      </a:pPr>
                      <a:r>
                        <a:rPr lang="af-ZA" sz="2000" cap="none" spc="0">
                          <a:solidFill>
                            <a:srgbClr val="000000"/>
                          </a:solidFill>
                          <a:effectLst/>
                          <a:latin typeface="Univers Condensed"/>
                        </a:rPr>
                        <a:t>UFF (Open Babel)</a:t>
                      </a:r>
                    </a:p>
                  </a:txBody>
                  <a:tcPr marL="111852" marR="186421" marT="116513" marB="111852" anchor="ctr"/>
                </a:tc>
                <a:tc>
                  <a:txBody>
                    <a:bodyPr/>
                    <a:lstStyle/>
                    <a:p>
                      <a:pPr>
                        <a:lnSpc>
                          <a:spcPts val="1875"/>
                        </a:lnSpc>
                        <a:buNone/>
                      </a:pPr>
                      <a:r>
                        <a:rPr lang="af-ZA" sz="2000" cap="none" spc="0">
                          <a:solidFill>
                            <a:srgbClr val="000000"/>
                          </a:solidFill>
                          <a:effectLst/>
                          <a:latin typeface="Univers Condensed"/>
                        </a:rPr>
                        <a:t>4.34e+14</a:t>
                      </a:r>
                    </a:p>
                  </a:txBody>
                  <a:tcPr marL="186421" marR="186421" marT="116513" marB="111852" anchor="ctr"/>
                </a:tc>
                <a:tc>
                  <a:txBody>
                    <a:bodyPr/>
                    <a:lstStyle/>
                    <a:p>
                      <a:pPr>
                        <a:lnSpc>
                          <a:spcPts val="1875"/>
                        </a:lnSpc>
                        <a:buNone/>
                      </a:pPr>
                      <a:r>
                        <a:rPr lang="af-ZA" sz="2000" cap="none" spc="0">
                          <a:solidFill>
                            <a:srgbClr val="000000"/>
                          </a:solidFill>
                          <a:effectLst/>
                          <a:latin typeface="Univers Condensed"/>
                        </a:rPr>
                        <a:t>–4.34e+14 (unphysical)</a:t>
                      </a:r>
                    </a:p>
                  </a:txBody>
                  <a:tcPr marL="186421" marR="111852" marT="116513" marB="111852" anchor="ctr"/>
                </a:tc>
                <a:extLst>
                  <a:ext uri="{0D108BD9-81ED-4DB2-BD59-A6C34878D82A}">
                    <a16:rowId xmlns:a16="http://schemas.microsoft.com/office/drawing/2014/main" val="2798171846"/>
                  </a:ext>
                </a:extLst>
              </a:tr>
              <a:tr h="568273">
                <a:tc>
                  <a:txBody>
                    <a:bodyPr/>
                    <a:lstStyle/>
                    <a:p>
                      <a:pPr>
                        <a:lnSpc>
                          <a:spcPts val="1875"/>
                        </a:lnSpc>
                        <a:buNone/>
                      </a:pPr>
                      <a:r>
                        <a:rPr lang="af-ZA" sz="2000" cap="none" spc="0">
                          <a:solidFill>
                            <a:srgbClr val="000000"/>
                          </a:solidFill>
                          <a:effectLst/>
                          <a:latin typeface="Univers Condensed"/>
                        </a:rPr>
                        <a:t>LJ (ASE)</a:t>
                      </a:r>
                    </a:p>
                  </a:txBody>
                  <a:tcPr marL="111852" marR="186421" marT="116513" marB="111852" anchor="ctr"/>
                </a:tc>
                <a:tc>
                  <a:txBody>
                    <a:bodyPr/>
                    <a:lstStyle/>
                    <a:p>
                      <a:pPr>
                        <a:lnSpc>
                          <a:spcPts val="1875"/>
                        </a:lnSpc>
                        <a:buNone/>
                      </a:pPr>
                      <a:r>
                        <a:rPr lang="ru-RU" sz="2000" cap="none" spc="0">
                          <a:solidFill>
                            <a:srgbClr val="000000"/>
                          </a:solidFill>
                          <a:effectLst/>
                          <a:latin typeface="Univers Condensed"/>
                        </a:rPr>
                        <a:t>–17.83</a:t>
                      </a:r>
                    </a:p>
                  </a:txBody>
                  <a:tcPr marL="186421" marR="186421" marT="116513" marB="111852" anchor="ctr"/>
                </a:tc>
                <a:tc>
                  <a:txBody>
                    <a:bodyPr/>
                    <a:lstStyle/>
                    <a:p>
                      <a:pPr>
                        <a:lnSpc>
                          <a:spcPts val="1875"/>
                        </a:lnSpc>
                        <a:buNone/>
                      </a:pPr>
                      <a:r>
                        <a:rPr lang="ru-RU" sz="2000" cap="none" spc="0">
                          <a:solidFill>
                            <a:srgbClr val="000000"/>
                          </a:solidFill>
                          <a:effectLst/>
                          <a:latin typeface="Univers Condensed"/>
                        </a:rPr>
                        <a:t>–2.46</a:t>
                      </a:r>
                    </a:p>
                  </a:txBody>
                  <a:tcPr marL="186421" marR="111852" marT="116513" marB="111852" anchor="ctr"/>
                </a:tc>
                <a:extLst>
                  <a:ext uri="{0D108BD9-81ED-4DB2-BD59-A6C34878D82A}">
                    <a16:rowId xmlns:a16="http://schemas.microsoft.com/office/drawing/2014/main" val="1227444191"/>
                  </a:ext>
                </a:extLst>
              </a:tr>
              <a:tr h="863439">
                <a:tc>
                  <a:txBody>
                    <a:bodyPr/>
                    <a:lstStyle/>
                    <a:p>
                      <a:pPr>
                        <a:lnSpc>
                          <a:spcPts val="1875"/>
                        </a:lnSpc>
                        <a:buNone/>
                      </a:pPr>
                      <a:r>
                        <a:rPr lang="af-ZA" sz="2000" cap="none" spc="0">
                          <a:solidFill>
                            <a:srgbClr val="000000"/>
                          </a:solidFill>
                          <a:effectLst/>
                          <a:latin typeface="Univers Condensed"/>
                        </a:rPr>
                        <a:t>Expected experiment</a:t>
                      </a:r>
                    </a:p>
                  </a:txBody>
                  <a:tcPr marL="111852" marR="186421" marT="116513" marB="111852" anchor="ctr"/>
                </a:tc>
                <a:tc>
                  <a:txBody>
                    <a:bodyPr/>
                    <a:lstStyle/>
                    <a:p>
                      <a:pPr>
                        <a:lnSpc>
                          <a:spcPts val="1875"/>
                        </a:lnSpc>
                        <a:buNone/>
                      </a:pPr>
                      <a:r>
                        <a:rPr lang="af-ZA" sz="2000" cap="none" spc="0">
                          <a:solidFill>
                            <a:srgbClr val="000000"/>
                          </a:solidFill>
                          <a:effectLst/>
                          <a:latin typeface="Univers Condensed"/>
                        </a:rPr>
                        <a:t>~ –100 (total)</a:t>
                      </a:r>
                    </a:p>
                  </a:txBody>
                  <a:tcPr marL="186421" marR="186421" marT="116513" marB="111852" anchor="ctr"/>
                </a:tc>
                <a:tc>
                  <a:txBody>
                    <a:bodyPr/>
                    <a:lstStyle/>
                    <a:p>
                      <a:pPr>
                        <a:lnSpc>
                          <a:spcPts val="1875"/>
                        </a:lnSpc>
                        <a:buNone/>
                      </a:pPr>
                      <a:r>
                        <a:rPr lang="af-ZA" sz="2000" cap="none" spc="0">
                          <a:solidFill>
                            <a:srgbClr val="000000"/>
                          </a:solidFill>
                          <a:effectLst/>
                          <a:latin typeface="Univers Condensed"/>
                        </a:rPr>
                        <a:t>–0.5 to –1.0</a:t>
                      </a:r>
                    </a:p>
                  </a:txBody>
                  <a:tcPr marL="186421" marR="111852" marT="116513" marB="111852" anchor="ctr"/>
                </a:tc>
                <a:extLst>
                  <a:ext uri="{0D108BD9-81ED-4DB2-BD59-A6C34878D82A}">
                    <a16:rowId xmlns:a16="http://schemas.microsoft.com/office/drawing/2014/main" val="3432498532"/>
                  </a:ext>
                </a:extLst>
              </a:tr>
            </a:tbl>
          </a:graphicData>
        </a:graphic>
      </p:graphicFrame>
    </p:spTree>
    <p:extLst>
      <p:ext uri="{BB962C8B-B14F-4D97-AF65-F5344CB8AC3E}">
        <p14:creationId xmlns:p14="http://schemas.microsoft.com/office/powerpoint/2010/main" val="1248588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F2D6320-C0C8-4EB2-2DF0-28C7F1573A8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DC2DAAD9-D88F-F395-1F95-92D14F0DFB78}"/>
              </a:ext>
            </a:extLst>
          </p:cNvPr>
          <p:cNvSpPr>
            <a:spLocks noGrp="1"/>
          </p:cNvSpPr>
          <p:nvPr>
            <p:ph type="title"/>
          </p:nvPr>
        </p:nvSpPr>
        <p:spPr>
          <a:xfrm>
            <a:off x="704088" y="914400"/>
            <a:ext cx="10780776" cy="1180210"/>
          </a:xfrm>
        </p:spPr>
        <p:txBody>
          <a:bodyPr>
            <a:normAutofit/>
          </a:bodyPr>
          <a:lstStyle/>
          <a:p>
            <a:r>
              <a:rPr lang="ru-RU" b="1">
                <a:highlight>
                  <a:srgbClr val="FFFFFF"/>
                </a:highlight>
              </a:rPr>
              <a:t>Key Takeaways from All Five Scripts</a:t>
            </a:r>
            <a:endParaRPr lang="ru-RU"/>
          </a:p>
          <a:p>
            <a:endParaRPr lang="ru-RU" b="1">
              <a:highlight>
                <a:srgbClr val="FFFFFF"/>
              </a:highlight>
            </a:endParaRPr>
          </a:p>
          <a:p>
            <a:endParaRPr lang="ru-RU" b="1">
              <a:highlight>
                <a:srgbClr val="FFFFFF"/>
              </a:highlight>
            </a:endParaRPr>
          </a:p>
          <a:p>
            <a:endParaRPr lang="ru-RU"/>
          </a:p>
        </p:txBody>
      </p:sp>
      <p:cxnSp>
        <p:nvCxnSpPr>
          <p:cNvPr id="12" name="Straight Connector 11">
            <a:extLst>
              <a:ext uri="{FF2B5EF4-FFF2-40B4-BE49-F238E27FC236}">
                <a16:creationId xmlns:a16="http://schemas.microsoft.com/office/drawing/2014/main" id="{4E495065-8864-87FB-2BCC-254769963E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Объект 2">
            <a:extLst>
              <a:ext uri="{FF2B5EF4-FFF2-40B4-BE49-F238E27FC236}">
                <a16:creationId xmlns:a16="http://schemas.microsoft.com/office/drawing/2014/main" id="{B832A14F-9067-6D59-1CEB-6C9BDAAF0414}"/>
              </a:ext>
            </a:extLst>
          </p:cNvPr>
          <p:cNvSpPr>
            <a:spLocks noGrp="1"/>
          </p:cNvSpPr>
          <p:nvPr>
            <p:ph idx="1"/>
          </p:nvPr>
        </p:nvSpPr>
        <p:spPr>
          <a:xfrm>
            <a:off x="6664960" y="2346960"/>
            <a:ext cx="4819903" cy="3775456"/>
          </a:xfrm>
        </p:spPr>
        <p:txBody>
          <a:bodyPr vert="horz" lIns="91440" tIns="45720" rIns="91440" bIns="45720" rtlCol="0" anchor="t">
            <a:normAutofit/>
          </a:bodyPr>
          <a:lstStyle/>
          <a:p>
            <a:pPr>
              <a:lnSpc>
                <a:spcPct val="100000"/>
              </a:lnSpc>
            </a:pPr>
            <a:r>
              <a:rPr lang="ru-RU" sz="1700" b="1">
                <a:latin typeface="Univers Condensed"/>
                <a:ea typeface="+mn-lt"/>
                <a:cs typeface="+mn-lt"/>
              </a:rPr>
              <a:t>LJ parameters </a:t>
            </a:r>
            <a:r>
              <a:rPr lang="ru-RU" sz="1700">
                <a:latin typeface="Univers Condensed"/>
                <a:ea typeface="+mn-lt"/>
                <a:cs typeface="+mn-lt"/>
              </a:rPr>
              <a:t>completely change results (0 to –0.09 eV).</a:t>
            </a:r>
            <a:endParaRPr lang="ru-RU" sz="1700">
              <a:latin typeface="Univers Condensed"/>
            </a:endParaRPr>
          </a:p>
          <a:p>
            <a:pPr>
              <a:lnSpc>
                <a:spcPct val="100000"/>
              </a:lnSpc>
            </a:pPr>
            <a:r>
              <a:rPr lang="ru-RU" sz="1700" b="1">
                <a:latin typeface="Univers Condensed"/>
                <a:ea typeface="+mn-lt"/>
                <a:cs typeface="+mn-lt"/>
              </a:rPr>
              <a:t>CHGNet/MACE</a:t>
            </a:r>
            <a:r>
              <a:rPr lang="ru-RU" sz="1700">
                <a:latin typeface="Univers Condensed"/>
                <a:ea typeface="+mn-lt"/>
                <a:cs typeface="+mn-lt"/>
              </a:rPr>
              <a:t> give experimental accuracy (–0.9 eV).</a:t>
            </a:r>
            <a:endParaRPr lang="ru-RU" sz="1700">
              <a:latin typeface="Univers Condensed"/>
            </a:endParaRPr>
          </a:p>
          <a:p>
            <a:pPr>
              <a:lnSpc>
                <a:spcPct val="100000"/>
              </a:lnSpc>
            </a:pPr>
            <a:r>
              <a:rPr lang="ru-RU" sz="1700">
                <a:latin typeface="Univers Condensed"/>
                <a:ea typeface="+mn-lt"/>
                <a:cs typeface="+mn-lt"/>
              </a:rPr>
              <a:t>96 sites tested automatically, symmetry confirmed.</a:t>
            </a:r>
            <a:endParaRPr lang="ru-RU" sz="1700">
              <a:latin typeface="Univers Condensed"/>
            </a:endParaRPr>
          </a:p>
          <a:p>
            <a:pPr>
              <a:lnSpc>
                <a:spcPct val="100000"/>
              </a:lnSpc>
            </a:pPr>
            <a:r>
              <a:rPr lang="ru-RU" sz="1700" b="1">
                <a:latin typeface="Univers Condensed"/>
              </a:rPr>
              <a:t>ase gui</a:t>
            </a:r>
            <a:r>
              <a:rPr lang="ru-RU" sz="1700" b="1" dirty="0">
                <a:latin typeface="Univers Condensed"/>
                <a:ea typeface="+mn-lt"/>
                <a:cs typeface="+mn-lt"/>
              </a:rPr>
              <a:t> </a:t>
            </a:r>
            <a:r>
              <a:rPr lang="ru-RU" sz="1700">
                <a:latin typeface="Univers Condensed"/>
                <a:ea typeface="+mn-lt"/>
                <a:cs typeface="+mn-lt"/>
              </a:rPr>
              <a:t>and </a:t>
            </a:r>
            <a:r>
              <a:rPr lang="ru-RU" sz="1700" b="1">
                <a:latin typeface="Univers Condensed"/>
              </a:rPr>
              <a:t>view()</a:t>
            </a:r>
            <a:r>
              <a:rPr lang="ru-RU" sz="1700" b="1" dirty="0">
                <a:latin typeface="Univers Condensed"/>
                <a:ea typeface="+mn-lt"/>
                <a:cs typeface="+mn-lt"/>
              </a:rPr>
              <a:t> </a:t>
            </a:r>
            <a:r>
              <a:rPr lang="ru-RU" sz="1700">
                <a:latin typeface="Univers Condensed"/>
                <a:ea typeface="+mn-lt"/>
                <a:cs typeface="+mn-lt"/>
              </a:rPr>
              <a:t>catch mistakes immediately.</a:t>
            </a:r>
            <a:endParaRPr lang="ru-RU" sz="1700">
              <a:latin typeface="Univers Condensed"/>
            </a:endParaRPr>
          </a:p>
          <a:p>
            <a:pPr>
              <a:lnSpc>
                <a:spcPct val="100000"/>
              </a:lnSpc>
            </a:pPr>
            <a:r>
              <a:rPr lang="ru-RU" sz="1700" b="1">
                <a:latin typeface="Univers Condensed"/>
                <a:ea typeface="+mn-lt"/>
                <a:cs typeface="+mn-lt"/>
              </a:rPr>
              <a:t>ASE </a:t>
            </a:r>
            <a:r>
              <a:rPr lang="ru-RU" sz="1700" b="1">
                <a:latin typeface="Univers Condensed"/>
              </a:rPr>
              <a:t>.db</a:t>
            </a:r>
            <a:r>
              <a:rPr lang="ru-RU" sz="1700">
                <a:latin typeface="Univers Condensed"/>
                <a:ea typeface="+mn-lt"/>
                <a:cs typeface="+mn-lt"/>
              </a:rPr>
              <a:t> for thousands of calculations.</a:t>
            </a:r>
            <a:endParaRPr lang="ru-RU" sz="1700">
              <a:latin typeface="Univers Condensed"/>
            </a:endParaRPr>
          </a:p>
          <a:p>
            <a:pPr>
              <a:lnSpc>
                <a:spcPct val="100000"/>
              </a:lnSpc>
            </a:pPr>
            <a:r>
              <a:rPr lang="ru-RU" sz="1700" b="1">
                <a:latin typeface="Univers Condensed"/>
                <a:ea typeface="+mn-lt"/>
                <a:cs typeface="+mn-lt"/>
              </a:rPr>
              <a:t>ASE</a:t>
            </a:r>
            <a:r>
              <a:rPr lang="ru-RU" sz="1700">
                <a:latin typeface="Univers Condensed"/>
                <a:ea typeface="+mn-lt"/>
                <a:cs typeface="+mn-lt"/>
              </a:rPr>
              <a:t> replaces external tools – clean, unified workflow from building to analysis.</a:t>
            </a:r>
            <a:endParaRPr lang="ru-RU" sz="1700">
              <a:latin typeface="Univers Condensed"/>
            </a:endParaRPr>
          </a:p>
          <a:p>
            <a:pPr>
              <a:lnSpc>
                <a:spcPct val="100000"/>
              </a:lnSpc>
            </a:pPr>
            <a:endParaRPr lang="ru-RU" sz="1700" dirty="0">
              <a:latin typeface="Univers Condensed"/>
            </a:endParaRPr>
          </a:p>
          <a:p>
            <a:pPr marL="0" indent="0">
              <a:lnSpc>
                <a:spcPct val="100000"/>
              </a:lnSpc>
              <a:buNone/>
            </a:pPr>
            <a:endParaRPr lang="ru-RU" sz="1700" dirty="0">
              <a:latin typeface="Univers Condensed"/>
            </a:endParaRPr>
          </a:p>
          <a:p>
            <a:pPr marL="0" indent="0">
              <a:lnSpc>
                <a:spcPct val="100000"/>
              </a:lnSpc>
              <a:buNone/>
            </a:pPr>
            <a:endParaRPr lang="ru-RU" sz="1700" dirty="0">
              <a:latin typeface="Univers Condensed"/>
            </a:endParaRPr>
          </a:p>
        </p:txBody>
      </p:sp>
      <p:graphicFrame>
        <p:nvGraphicFramePr>
          <p:cNvPr id="5" name="Таблица 4">
            <a:extLst>
              <a:ext uri="{FF2B5EF4-FFF2-40B4-BE49-F238E27FC236}">
                <a16:creationId xmlns:a16="http://schemas.microsoft.com/office/drawing/2014/main" id="{C0D10D4A-2674-A214-D0C1-176C67F6EA38}"/>
              </a:ext>
            </a:extLst>
          </p:cNvPr>
          <p:cNvGraphicFramePr>
            <a:graphicFrameLocks noGrp="1"/>
          </p:cNvGraphicFramePr>
          <p:nvPr>
            <p:extLst>
              <p:ext uri="{D42A27DB-BD31-4B8C-83A1-F6EECF244321}">
                <p14:modId xmlns:p14="http://schemas.microsoft.com/office/powerpoint/2010/main" val="622757110"/>
              </p:ext>
            </p:extLst>
          </p:nvPr>
        </p:nvGraphicFramePr>
        <p:xfrm>
          <a:off x="800098" y="2427428"/>
          <a:ext cx="5003770" cy="3477549"/>
        </p:xfrm>
        <a:graphic>
          <a:graphicData uri="http://schemas.openxmlformats.org/drawingml/2006/table">
            <a:tbl>
              <a:tblPr firstRow="1" bandRow="1">
                <a:solidFill>
                  <a:schemeClr val="bg1">
                    <a:lumMod val="95000"/>
                  </a:schemeClr>
                </a:solidFill>
                <a:tableStyleId>{5C22544A-7EE6-4342-B048-85BDC9FD1C3A}</a:tableStyleId>
              </a:tblPr>
              <a:tblGrid>
                <a:gridCol w="1658537">
                  <a:extLst>
                    <a:ext uri="{9D8B030D-6E8A-4147-A177-3AD203B41FA5}">
                      <a16:colId xmlns:a16="http://schemas.microsoft.com/office/drawing/2014/main" val="1803909992"/>
                    </a:ext>
                  </a:extLst>
                </a:gridCol>
                <a:gridCol w="1540275">
                  <a:extLst>
                    <a:ext uri="{9D8B030D-6E8A-4147-A177-3AD203B41FA5}">
                      <a16:colId xmlns:a16="http://schemas.microsoft.com/office/drawing/2014/main" val="848742640"/>
                    </a:ext>
                  </a:extLst>
                </a:gridCol>
                <a:gridCol w="1804958">
                  <a:extLst>
                    <a:ext uri="{9D8B030D-6E8A-4147-A177-3AD203B41FA5}">
                      <a16:colId xmlns:a16="http://schemas.microsoft.com/office/drawing/2014/main" val="780839000"/>
                    </a:ext>
                  </a:extLst>
                </a:gridCol>
              </a:tblGrid>
              <a:tr h="807336">
                <a:tc>
                  <a:txBody>
                    <a:bodyPr/>
                    <a:lstStyle/>
                    <a:p>
                      <a:pPr algn="l">
                        <a:lnSpc>
                          <a:spcPts val="1875"/>
                        </a:lnSpc>
                        <a:buNone/>
                      </a:pPr>
                      <a:r>
                        <a:rPr lang="af-ZA" sz="2000" b="1" cap="none" spc="0">
                          <a:solidFill>
                            <a:schemeClr val="tx1"/>
                          </a:solidFill>
                          <a:effectLst/>
                          <a:latin typeface="Univers Condensed"/>
                        </a:rPr>
                        <a:t>Method</a:t>
                      </a:r>
                    </a:p>
                  </a:txBody>
                  <a:tcPr marL="83949" marR="199879" marT="23986" marB="179891"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pPr algn="l">
                        <a:lnSpc>
                          <a:spcPts val="1875"/>
                        </a:lnSpc>
                        <a:buNone/>
                      </a:pPr>
                      <a:r>
                        <a:rPr lang="af-ZA" sz="2000" b="1" cap="none" spc="0">
                          <a:solidFill>
                            <a:schemeClr val="tx1"/>
                          </a:solidFill>
                          <a:effectLst/>
                          <a:latin typeface="Univers Condensed"/>
                        </a:rPr>
                        <a:t>Adsorption Energy (eV)</a:t>
                      </a:r>
                    </a:p>
                  </a:txBody>
                  <a:tcPr marL="83949" marR="199879" marT="23986" marB="179891"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pPr algn="l">
                        <a:lnSpc>
                          <a:spcPts val="1875"/>
                        </a:lnSpc>
                        <a:buNone/>
                      </a:pPr>
                      <a:r>
                        <a:rPr lang="af-ZA" sz="2000" b="1" cap="none" spc="0">
                          <a:solidFill>
                            <a:schemeClr val="tx1"/>
                          </a:solidFill>
                          <a:effectLst/>
                          <a:latin typeface="Univers Condensed"/>
                        </a:rPr>
                        <a:t>vs Experiment</a:t>
                      </a:r>
                    </a:p>
                  </a:txBody>
                  <a:tcPr marL="83949" marR="199879" marT="23986" marB="179891" anchor="b">
                    <a:lnL w="12700" cmpd="sng">
                      <a:noFill/>
                    </a:lnL>
                    <a:lnR w="12700" cmpd="sng">
                      <a:noFill/>
                    </a:lnR>
                    <a:lnT w="9525" cap="flat" cmpd="sng" algn="ctr">
                      <a:noFill/>
                      <a:prstDash val="solid"/>
                    </a:lnT>
                    <a:lnB w="38100" cmpd="sng">
                      <a:noFill/>
                    </a:lnB>
                    <a:solidFill>
                      <a:schemeClr val="bg1">
                        <a:lumMod val="95000"/>
                      </a:schemeClr>
                    </a:solidFill>
                  </a:tcPr>
                </a:tc>
                <a:extLst>
                  <a:ext uri="{0D108BD9-81ED-4DB2-BD59-A6C34878D82A}">
                    <a16:rowId xmlns:a16="http://schemas.microsoft.com/office/drawing/2014/main" val="1319212662"/>
                  </a:ext>
                </a:extLst>
              </a:tr>
              <a:tr h="495934">
                <a:tc>
                  <a:txBody>
                    <a:bodyPr/>
                    <a:lstStyle/>
                    <a:p>
                      <a:pPr>
                        <a:lnSpc>
                          <a:spcPts val="1875"/>
                        </a:lnSpc>
                        <a:buNone/>
                      </a:pPr>
                      <a:r>
                        <a:rPr lang="af-ZA" sz="1600" b="0" cap="none" spc="0">
                          <a:solidFill>
                            <a:schemeClr val="tx1"/>
                          </a:solidFill>
                          <a:effectLst/>
                          <a:latin typeface="Univers Condensed"/>
                        </a:rPr>
                        <a:t>LJ (basic)</a:t>
                      </a:r>
                    </a:p>
                  </a:txBody>
                  <a:tcPr marL="83949" marR="199879" marT="23986" marB="179891" anchor="ctr">
                    <a:lnL w="12700" cap="flat" cmpd="sng" algn="ctr">
                      <a:solidFill>
                        <a:schemeClr val="tx1"/>
                      </a:solidFill>
                      <a:prstDash val="solid"/>
                    </a:lnL>
                    <a:lnR w="12700" cmpd="sng">
                      <a:noFill/>
                      <a:prstDash val="solid"/>
                    </a:lnR>
                    <a:lnT w="38100" cmpd="sng">
                      <a:noFill/>
                    </a:lnT>
                    <a:lnB w="9525" cap="flat" cmpd="sng" algn="ctr">
                      <a:noFill/>
                      <a:prstDash val="solid"/>
                    </a:lnB>
                    <a:solidFill>
                      <a:schemeClr val="bg1">
                        <a:lumMod val="95000"/>
                      </a:schemeClr>
                    </a:solidFill>
                  </a:tcPr>
                </a:tc>
                <a:tc>
                  <a:txBody>
                    <a:bodyPr/>
                    <a:lstStyle/>
                    <a:p>
                      <a:pPr>
                        <a:lnSpc>
                          <a:spcPts val="1875"/>
                        </a:lnSpc>
                        <a:buNone/>
                      </a:pPr>
                      <a:r>
                        <a:rPr lang="ru-RU" sz="1600" b="0" cap="none" spc="0">
                          <a:solidFill>
                            <a:schemeClr val="tx1"/>
                          </a:solidFill>
                          <a:effectLst/>
                          <a:latin typeface="Univers Condensed"/>
                        </a:rPr>
                        <a:t>–0.09</a:t>
                      </a:r>
                    </a:p>
                  </a:txBody>
                  <a:tcPr marL="83949" marR="199879" marT="23986" marB="179891" anchor="ctr">
                    <a:lnL w="12700" cmpd="sng">
                      <a:noFill/>
                      <a:prstDash val="solid"/>
                    </a:lnL>
                    <a:lnR w="12700" cmpd="sng">
                      <a:noFill/>
                      <a:prstDash val="solid"/>
                    </a:lnR>
                    <a:lnT w="38100" cmpd="sng">
                      <a:noFill/>
                    </a:lnT>
                    <a:lnB w="9525" cap="flat" cmpd="sng" algn="ctr">
                      <a:noFill/>
                      <a:prstDash val="solid"/>
                    </a:lnB>
                    <a:solidFill>
                      <a:schemeClr val="bg1">
                        <a:lumMod val="95000"/>
                      </a:schemeClr>
                    </a:solidFill>
                  </a:tcPr>
                </a:tc>
                <a:tc>
                  <a:txBody>
                    <a:bodyPr/>
                    <a:lstStyle/>
                    <a:p>
                      <a:pPr>
                        <a:lnSpc>
                          <a:spcPts val="1875"/>
                        </a:lnSpc>
                        <a:buNone/>
                      </a:pPr>
                      <a:r>
                        <a:rPr lang="af-ZA" sz="1600" b="0" cap="none" spc="0">
                          <a:solidFill>
                            <a:schemeClr val="tx1"/>
                          </a:solidFill>
                          <a:effectLst/>
                          <a:latin typeface="Univers Condensed"/>
                        </a:rPr>
                        <a:t>10× too weak</a:t>
                      </a:r>
                    </a:p>
                  </a:txBody>
                  <a:tcPr marL="83949" marR="119928" marT="23986" marB="179891" anchor="ctr">
                    <a:lnL w="12700" cmpd="sng">
                      <a:noFill/>
                      <a:prstDash val="solid"/>
                    </a:lnL>
                    <a:lnR w="12700" cmpd="sng">
                      <a:noFill/>
                      <a:prstDash val="solid"/>
                    </a:lnR>
                    <a:lnT w="38100" cmpd="sng">
                      <a:noFill/>
                    </a:lnT>
                    <a:lnB w="9525" cap="flat" cmpd="sng" algn="ctr">
                      <a:noFill/>
                      <a:prstDash val="solid"/>
                    </a:lnB>
                    <a:solidFill>
                      <a:schemeClr val="bg1">
                        <a:lumMod val="95000"/>
                      </a:schemeClr>
                    </a:solidFill>
                  </a:tcPr>
                </a:tc>
                <a:extLst>
                  <a:ext uri="{0D108BD9-81ED-4DB2-BD59-A6C34878D82A}">
                    <a16:rowId xmlns:a16="http://schemas.microsoft.com/office/drawing/2014/main" val="895488005"/>
                  </a:ext>
                </a:extLst>
              </a:tr>
              <a:tr h="495934">
                <a:tc>
                  <a:txBody>
                    <a:bodyPr/>
                    <a:lstStyle/>
                    <a:p>
                      <a:pPr>
                        <a:lnSpc>
                          <a:spcPts val="1875"/>
                        </a:lnSpc>
                        <a:buNone/>
                      </a:pPr>
                      <a:r>
                        <a:rPr lang="af-ZA" sz="1600" b="0" cap="none" spc="0">
                          <a:solidFill>
                            <a:schemeClr val="tx1"/>
                          </a:solidFill>
                          <a:effectLst/>
                          <a:latin typeface="Univers Condensed"/>
                        </a:rPr>
                        <a:t>CHGNet</a:t>
                      </a:r>
                    </a:p>
                  </a:txBody>
                  <a:tcPr marL="83949" marR="199879" marT="23986" marB="179891" anchor="ctr">
                    <a:lnL w="12700"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a:lnSpc>
                          <a:spcPts val="1875"/>
                        </a:lnSpc>
                        <a:buNone/>
                      </a:pPr>
                      <a:r>
                        <a:rPr lang="ru-RU" sz="1600" b="0" cap="none" spc="0">
                          <a:solidFill>
                            <a:schemeClr val="tx1"/>
                          </a:solidFill>
                          <a:effectLst/>
                          <a:latin typeface="Univers Condensed"/>
                        </a:rPr>
                        <a:t>–0.90</a:t>
                      </a:r>
                    </a:p>
                  </a:txBody>
                  <a:tcPr marL="83949" marR="199879" marT="23986" marB="179891"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a:lnSpc>
                          <a:spcPts val="1875"/>
                        </a:lnSpc>
                        <a:buNone/>
                      </a:pPr>
                      <a:r>
                        <a:rPr lang="af-ZA" sz="1600" b="0" cap="none" spc="0">
                          <a:solidFill>
                            <a:schemeClr val="tx1"/>
                          </a:solidFill>
                          <a:effectLst/>
                          <a:latin typeface="Univers Condensed"/>
                        </a:rPr>
                        <a:t> in range</a:t>
                      </a:r>
                    </a:p>
                  </a:txBody>
                  <a:tcPr marL="83949" marR="119928" marT="23986" marB="179891"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604817242"/>
                  </a:ext>
                </a:extLst>
              </a:tr>
              <a:tr h="495934">
                <a:tc>
                  <a:txBody>
                    <a:bodyPr/>
                    <a:lstStyle/>
                    <a:p>
                      <a:pPr>
                        <a:lnSpc>
                          <a:spcPts val="1875"/>
                        </a:lnSpc>
                        <a:buNone/>
                      </a:pPr>
                      <a:r>
                        <a:rPr lang="af-ZA" sz="1600" b="0" cap="none" spc="0">
                          <a:solidFill>
                            <a:schemeClr val="tx1"/>
                          </a:solidFill>
                          <a:effectLst/>
                          <a:latin typeface="Univers Condensed"/>
                        </a:rPr>
                        <a:t>MACE</a:t>
                      </a:r>
                    </a:p>
                  </a:txBody>
                  <a:tcPr marL="83949" marR="199879" marT="23986" marB="179891" anchor="ctr">
                    <a:lnL w="12700" cap="flat" cmpd="sng" algn="ctr">
                      <a:solidFill>
                        <a:schemeClr val="tx1"/>
                      </a:solidFill>
                      <a:prstDash val="solid"/>
                    </a:lnL>
                    <a:lnR w="12700" cmpd="sng">
                      <a:noFill/>
                      <a:prstDash val="solid"/>
                    </a:lnR>
                    <a:lnT w="12700" cmpd="sng">
                      <a:noFill/>
                      <a:prstDash val="solid"/>
                    </a:lnT>
                    <a:lnB w="9525" cap="flat" cmpd="sng" algn="ctr">
                      <a:noFill/>
                      <a:prstDash val="solid"/>
                    </a:lnB>
                    <a:solidFill>
                      <a:schemeClr val="bg1">
                        <a:lumMod val="95000"/>
                      </a:schemeClr>
                    </a:solidFill>
                  </a:tcPr>
                </a:tc>
                <a:tc>
                  <a:txBody>
                    <a:bodyPr/>
                    <a:lstStyle/>
                    <a:p>
                      <a:pPr>
                        <a:lnSpc>
                          <a:spcPts val="1875"/>
                        </a:lnSpc>
                        <a:buNone/>
                      </a:pPr>
                      <a:r>
                        <a:rPr lang="ru-RU" sz="1600" b="0" cap="none" spc="0">
                          <a:solidFill>
                            <a:schemeClr val="tx1"/>
                          </a:solidFill>
                          <a:effectLst/>
                          <a:latin typeface="Univers Condensed"/>
                        </a:rPr>
                        <a:t>–0.73</a:t>
                      </a:r>
                    </a:p>
                  </a:txBody>
                  <a:tcPr marL="83949" marR="199879" marT="23986" marB="179891" anchor="ctr">
                    <a:lnL w="12700" cmpd="sng">
                      <a:noFill/>
                      <a:prstDash val="solid"/>
                    </a:lnL>
                    <a:lnR w="12700" cmpd="sng">
                      <a:noFill/>
                      <a:prstDash val="solid"/>
                    </a:lnR>
                    <a:lnT w="12700" cmpd="sng">
                      <a:noFill/>
                      <a:prstDash val="solid"/>
                    </a:lnT>
                    <a:lnB w="9525" cap="flat" cmpd="sng" algn="ctr">
                      <a:noFill/>
                      <a:prstDash val="solid"/>
                    </a:lnB>
                    <a:solidFill>
                      <a:schemeClr val="bg1">
                        <a:lumMod val="95000"/>
                      </a:schemeClr>
                    </a:solidFill>
                  </a:tcPr>
                </a:tc>
                <a:tc>
                  <a:txBody>
                    <a:bodyPr/>
                    <a:lstStyle/>
                    <a:p>
                      <a:pPr>
                        <a:lnSpc>
                          <a:spcPts val="1875"/>
                        </a:lnSpc>
                        <a:buNone/>
                      </a:pPr>
                      <a:r>
                        <a:rPr lang="af-ZA" sz="1600" b="0" cap="none" spc="0">
                          <a:solidFill>
                            <a:schemeClr val="tx1"/>
                          </a:solidFill>
                          <a:effectLst/>
                          <a:latin typeface="Univers Condensed"/>
                        </a:rPr>
                        <a:t> in range</a:t>
                      </a:r>
                    </a:p>
                  </a:txBody>
                  <a:tcPr marL="83949" marR="119928" marT="23986" marB="179891" anchor="ctr">
                    <a:lnL w="12700" cmpd="sng">
                      <a:noFill/>
                      <a:prstDash val="solid"/>
                    </a:lnL>
                    <a:lnR w="12700" cmpd="sng">
                      <a:noFill/>
                      <a:prstDash val="solid"/>
                    </a:lnR>
                    <a:lnT w="12700" cmpd="sng">
                      <a:noFill/>
                      <a:prstDash val="solid"/>
                    </a:lnT>
                    <a:lnB w="9525" cap="flat" cmpd="sng" algn="ctr">
                      <a:noFill/>
                      <a:prstDash val="solid"/>
                    </a:lnB>
                    <a:solidFill>
                      <a:schemeClr val="bg1">
                        <a:lumMod val="95000"/>
                      </a:schemeClr>
                    </a:solidFill>
                  </a:tcPr>
                </a:tc>
                <a:extLst>
                  <a:ext uri="{0D108BD9-81ED-4DB2-BD59-A6C34878D82A}">
                    <a16:rowId xmlns:a16="http://schemas.microsoft.com/office/drawing/2014/main" val="3804258181"/>
                  </a:ext>
                </a:extLst>
              </a:tr>
              <a:tr h="495934">
                <a:tc>
                  <a:txBody>
                    <a:bodyPr/>
                    <a:lstStyle/>
                    <a:p>
                      <a:pPr>
                        <a:lnSpc>
                          <a:spcPts val="1875"/>
                        </a:lnSpc>
                        <a:buNone/>
                      </a:pPr>
                      <a:r>
                        <a:rPr lang="af-ZA" sz="1600" b="0" cap="none" spc="0">
                          <a:solidFill>
                            <a:schemeClr val="tx1"/>
                          </a:solidFill>
                          <a:effectLst/>
                          <a:latin typeface="Univers Condensed"/>
                        </a:rPr>
                        <a:t>LJ screening</a:t>
                      </a:r>
                    </a:p>
                  </a:txBody>
                  <a:tcPr marL="83949" marR="199879" marT="23986" marB="179891" anchor="ctr">
                    <a:lnL w="12700"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a:lnSpc>
                          <a:spcPts val="1875"/>
                        </a:lnSpc>
                        <a:buNone/>
                      </a:pPr>
                      <a:r>
                        <a:rPr lang="ru-RU" sz="1600" b="0" cap="none" spc="0">
                          <a:solidFill>
                            <a:schemeClr val="tx1"/>
                          </a:solidFill>
                          <a:effectLst/>
                          <a:latin typeface="Univers Condensed"/>
                        </a:rPr>
                        <a:t>–0.82</a:t>
                      </a:r>
                    </a:p>
                  </a:txBody>
                  <a:tcPr marL="83949" marR="199879" marT="23986" marB="179891"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a:lnSpc>
                          <a:spcPts val="1875"/>
                        </a:lnSpc>
                        <a:buNone/>
                      </a:pPr>
                      <a:r>
                        <a:rPr lang="af-ZA" sz="1600" b="0" cap="none" spc="0">
                          <a:solidFill>
                            <a:schemeClr val="tx1"/>
                          </a:solidFill>
                          <a:effectLst/>
                          <a:latin typeface="Univers Condensed"/>
                        </a:rPr>
                        <a:t>qualitative</a:t>
                      </a:r>
                    </a:p>
                  </a:txBody>
                  <a:tcPr marL="83949" marR="119928" marT="23986" marB="179891"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1038465536"/>
                  </a:ext>
                </a:extLst>
              </a:tr>
              <a:tr h="495934">
                <a:tc>
                  <a:txBody>
                    <a:bodyPr/>
                    <a:lstStyle/>
                    <a:p>
                      <a:pPr>
                        <a:lnSpc>
                          <a:spcPts val="1875"/>
                        </a:lnSpc>
                        <a:buNone/>
                      </a:pPr>
                      <a:r>
                        <a:rPr lang="af-ZA" sz="1600" b="0" cap="none" spc="0">
                          <a:solidFill>
                            <a:schemeClr val="tx1"/>
                          </a:solidFill>
                          <a:effectLst/>
                          <a:latin typeface="Univers Condensed"/>
                        </a:rPr>
                        <a:t>UFF (Open Babel)</a:t>
                      </a:r>
                    </a:p>
                  </a:txBody>
                  <a:tcPr marL="83949" marR="199879" marT="23986" marB="179891" anchor="ctr">
                    <a:lnL w="12700" cap="flat" cmpd="sng" algn="ctr">
                      <a:solidFill>
                        <a:schemeClr val="tx1"/>
                      </a:solid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nSpc>
                          <a:spcPts val="1875"/>
                        </a:lnSpc>
                        <a:buNone/>
                      </a:pPr>
                      <a:r>
                        <a:rPr lang="ru-RU" sz="1600" b="0" cap="none" spc="0">
                          <a:solidFill>
                            <a:schemeClr val="tx1"/>
                          </a:solidFill>
                          <a:effectLst/>
                          <a:latin typeface="Univers Condensed"/>
                        </a:rPr>
                        <a:t>10¹⁴</a:t>
                      </a:r>
                    </a:p>
                  </a:txBody>
                  <a:tcPr marL="83949" marR="199879" marT="23986" marB="179891"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nSpc>
                          <a:spcPts val="1875"/>
                        </a:lnSpc>
                        <a:buNone/>
                      </a:pPr>
                      <a:r>
                        <a:rPr lang="af-ZA" sz="1600" b="0" cap="none" spc="0">
                          <a:solidFill>
                            <a:schemeClr val="tx1"/>
                          </a:solidFill>
                          <a:effectLst/>
                          <a:latin typeface="Univers Condensed"/>
                        </a:rPr>
                        <a:t>unphysical</a:t>
                      </a:r>
                    </a:p>
                  </a:txBody>
                  <a:tcPr marL="83949" marR="119928" marT="23986" marB="179891"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2592233134"/>
                  </a:ext>
                </a:extLst>
              </a:tr>
            </a:tbl>
          </a:graphicData>
        </a:graphic>
      </p:graphicFrame>
    </p:spTree>
    <p:extLst>
      <p:ext uri="{BB962C8B-B14F-4D97-AF65-F5344CB8AC3E}">
        <p14:creationId xmlns:p14="http://schemas.microsoft.com/office/powerpoint/2010/main" val="19888713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2FFE396-8F8A-5471-BC92-5A8ECB61E62E}"/>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DF973D2-D2E1-5A0D-1746-8677B0F0D4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2273BD09-34EA-7E6D-AF25-00715A843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55872C24-86ED-3F97-2CC6-59C1EAC4D877}"/>
              </a:ext>
            </a:extLst>
          </p:cNvPr>
          <p:cNvSpPr>
            <a:spLocks noGrp="1"/>
          </p:cNvSpPr>
          <p:nvPr>
            <p:ph type="ctrTitle"/>
          </p:nvPr>
        </p:nvSpPr>
        <p:spPr>
          <a:xfrm>
            <a:off x="703400" y="908651"/>
            <a:ext cx="3620882" cy="3640345"/>
          </a:xfrm>
        </p:spPr>
        <p:txBody>
          <a:bodyPr anchor="t">
            <a:normAutofit/>
          </a:bodyPr>
          <a:lstStyle/>
          <a:p>
            <a:endParaRPr lang="ru-RU" sz="4000" b="1" dirty="0"/>
          </a:p>
          <a:p>
            <a:endParaRPr lang="ru-RU" sz="4000" b="1">
              <a:highlight>
                <a:srgbClr val="151517"/>
              </a:highlight>
            </a:endParaRPr>
          </a:p>
          <a:p>
            <a:endParaRPr lang="ru-RU" sz="4000" b="1">
              <a:highlight>
                <a:srgbClr val="151517"/>
              </a:highlight>
            </a:endParaRPr>
          </a:p>
        </p:txBody>
      </p:sp>
      <p:cxnSp>
        <p:nvCxnSpPr>
          <p:cNvPr id="13" name="Straight Connector 12">
            <a:extLst>
              <a:ext uri="{FF2B5EF4-FFF2-40B4-BE49-F238E27FC236}">
                <a16:creationId xmlns:a16="http://schemas.microsoft.com/office/drawing/2014/main" id="{09A9A75E-D2D7-DEFB-12A2-6D9471DDC95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63417475-5B49-2F8C-4D20-ADEB16D85D12}"/>
              </a:ext>
            </a:extLst>
          </p:cNvPr>
          <p:cNvPicPr>
            <a:picLocks noChangeAspect="1"/>
          </p:cNvPicPr>
          <p:nvPr/>
        </p:nvPicPr>
        <p:blipFill>
          <a:blip r:embed="rId2"/>
          <a:srcRect r="-5" b="2492"/>
          <a:stretch>
            <a:fillRect/>
          </a:stretch>
        </p:blipFill>
        <p:spPr>
          <a:xfrm>
            <a:off x="4876158" y="10"/>
            <a:ext cx="7315841" cy="6857990"/>
          </a:xfrm>
          <a:prstGeom prst="rect">
            <a:avLst/>
          </a:prstGeom>
        </p:spPr>
      </p:pic>
      <p:sp>
        <p:nvSpPr>
          <p:cNvPr id="5" name="TextBox 4">
            <a:extLst>
              <a:ext uri="{FF2B5EF4-FFF2-40B4-BE49-F238E27FC236}">
                <a16:creationId xmlns:a16="http://schemas.microsoft.com/office/drawing/2014/main" id="{CD20DF84-3CD6-3119-F34D-6D1E990313DB}"/>
              </a:ext>
            </a:extLst>
          </p:cNvPr>
          <p:cNvSpPr txBox="1"/>
          <p:nvPr/>
        </p:nvSpPr>
        <p:spPr>
          <a:xfrm>
            <a:off x="577273" y="3105727"/>
            <a:ext cx="259080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a:latin typeface="Univers Condensed"/>
              </a:rPr>
              <a:t>Thank  You </a:t>
            </a:r>
            <a:r>
              <a:rPr lang="en-US" sz="3600" b="1" dirty="0">
                <a:latin typeface="Univers Condensed"/>
              </a:rPr>
              <a:t>for  Your Attention!</a:t>
            </a:r>
          </a:p>
          <a:p>
            <a:pPr algn="ctr"/>
            <a:endParaRPr lang="ru-RU"/>
          </a:p>
        </p:txBody>
      </p:sp>
    </p:spTree>
    <p:extLst>
      <p:ext uri="{BB962C8B-B14F-4D97-AF65-F5344CB8AC3E}">
        <p14:creationId xmlns:p14="http://schemas.microsoft.com/office/powerpoint/2010/main" val="2464871644"/>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Широкоэкранный</PresentationFormat>
  <Slides>8</Slides>
  <Notes>5</Notes>
  <HiddenSlides>0</HiddenSlides>
  <ScaleCrop>false</ScaleCrop>
  <HeadingPairs>
    <vt:vector size="4" baseType="variant">
      <vt:variant>
        <vt:lpstr>Тема</vt:lpstr>
      </vt:variant>
      <vt:variant>
        <vt:i4>1</vt:i4>
      </vt:variant>
      <vt:variant>
        <vt:lpstr>Заголовки слайдов</vt:lpstr>
      </vt:variant>
      <vt:variant>
        <vt:i4>8</vt:i4>
      </vt:variant>
    </vt:vector>
  </HeadingPairs>
  <TitlesOfParts>
    <vt:vector size="9" baseType="lpstr">
      <vt:lpstr>ChronicleVTI</vt:lpstr>
      <vt:lpstr>Exploring ASE through Five Demonstration Scripts for Hg Adsorption on Au(111)  </vt:lpstr>
      <vt:lpstr> Script 1 – Lennard-Jones Baseline  </vt:lpstr>
      <vt:lpstr>Script 2 – Machine Learning with CHGNet </vt:lpstr>
      <vt:lpstr>Script 3 – MACE Potential </vt:lpstr>
      <vt:lpstr>Script 4 – Automated Site Screening with LJ  </vt:lpstr>
      <vt:lpstr>Script 5 – Transition from Open Babel to ASE   </vt:lpstr>
      <vt:lpstr>Key Takeaways from All Five Scripts   </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89</cp:revision>
  <dcterms:created xsi:type="dcterms:W3CDTF">2012-07-30T23:42:41Z</dcterms:created>
  <dcterms:modified xsi:type="dcterms:W3CDTF">2026-03-19T15:42:21Z</dcterms:modified>
</cp:coreProperties>
</file>
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DE868EB-9DEB-D081-4D3D-14B36FBE6ACB}" v="75" dt="2026-03-18T15:15:14.583"/>
    <p1510:client id="{FAAA9A93-0BCC-7D80-D63C-74B07D6FCE58}" v="39" dt="2026-03-18T16:04:21.39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82" autoAdjust="0"/>
    <p:restoredTop sz="94660"/>
  </p:normalViewPr>
  <p:slideViewPr>
    <p:cSldViewPr snapToGrid="0">
      <p:cViewPr varScale="1">
        <p:scale>
          <a:sx n="89" d="100"/>
          <a:sy n="89" d="100"/>
        </p:scale>
        <p:origin x="84"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93AF54F-A081-40B2-97A7-8C01FA48D21D}" type="datetimeFigureOut">
              <a:t>18.03.2026</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BEBB765-2D49-4AA4-8CD9-EA94CFBA034A}" type="slidenum">
              <a:t>‹#›</a:t>
            </a:fld>
            <a:endParaRPr lang="ru-RU"/>
          </a:p>
        </p:txBody>
      </p:sp>
    </p:spTree>
    <p:extLst>
      <p:ext uri="{BB962C8B-B14F-4D97-AF65-F5344CB8AC3E}">
        <p14:creationId xmlns:p14="http://schemas.microsoft.com/office/powerpoint/2010/main" val="41510278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solidFill>
                  <a:srgbClr val="0F1115"/>
                </a:solidFill>
                <a:highlight>
                  <a:srgbClr val="FFFFFF"/>
                </a:highlight>
              </a:rPr>
              <a:t>I worked with five different scripts. The first uses a simple Lennard-Jones potential – it's fast but not accurate. The second and third use state-of-the-art machine learning potentials, </a:t>
            </a:r>
            <a:r>
              <a:rPr lang="en-US" dirty="0" err="1">
                <a:solidFill>
                  <a:srgbClr val="0F1115"/>
                </a:solidFill>
                <a:highlight>
                  <a:srgbClr val="FFFFFF"/>
                </a:highlight>
              </a:rPr>
              <a:t>CHGNet</a:t>
            </a:r>
            <a:r>
              <a:rPr lang="en-US" dirty="0">
                <a:solidFill>
                  <a:srgbClr val="0F1115"/>
                </a:solidFill>
                <a:highlight>
                  <a:srgbClr val="FFFFFF"/>
                </a:highlight>
              </a:rPr>
              <a:t> and MACE. The fourth script automates screening of 96 different adsorption sites. And the fifth shows how to migrate from an external tool, Open Babel, to pure ASE. Each taught me something different about ASE programming.</a:t>
            </a:r>
            <a:endParaRPr lang="ru-RU" dirty="0"/>
          </a:p>
        </p:txBody>
      </p:sp>
      <p:sp>
        <p:nvSpPr>
          <p:cNvPr id="4" name="Номер слайда 3"/>
          <p:cNvSpPr>
            <a:spLocks noGrp="1"/>
          </p:cNvSpPr>
          <p:nvPr>
            <p:ph type="sldNum" sz="quarter" idx="5"/>
          </p:nvPr>
        </p:nvSpPr>
        <p:spPr/>
        <p:txBody>
          <a:bodyPr/>
          <a:lstStyle/>
          <a:p>
            <a:fld id="{ABEBB765-2D49-4AA4-8CD9-EA94CFBA034A}" type="slidenum">
              <a:t>2</a:t>
            </a:fld>
            <a:endParaRPr lang="ru-RU"/>
          </a:p>
        </p:txBody>
      </p:sp>
    </p:spTree>
    <p:extLst>
      <p:ext uri="{BB962C8B-B14F-4D97-AF65-F5344CB8AC3E}">
        <p14:creationId xmlns:p14="http://schemas.microsoft.com/office/powerpoint/2010/main" val="20294024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solidFill>
                  <a:srgbClr val="0F1115"/>
                </a:solidFill>
                <a:highlight>
                  <a:srgbClr val="FFFFFF"/>
                </a:highlight>
              </a:rPr>
              <a:t>Script 2 introduced me to machine learning potentials with </a:t>
            </a:r>
            <a:r>
              <a:rPr lang="en-US" dirty="0" err="1">
                <a:solidFill>
                  <a:srgbClr val="0F1115"/>
                </a:solidFill>
                <a:highlight>
                  <a:srgbClr val="FFFFFF"/>
                </a:highlight>
              </a:rPr>
              <a:t>CHGNet</a:t>
            </a:r>
            <a:r>
              <a:rPr lang="en-US" dirty="0">
                <a:solidFill>
                  <a:srgbClr val="0F1115"/>
                </a:solidFill>
                <a:highlight>
                  <a:srgbClr val="FFFFFF"/>
                </a:highlight>
              </a:rPr>
              <a:t>. The results were dramatically better – </a:t>
            </a:r>
            <a:r>
              <a:rPr lang="en-US" dirty="0" err="1">
                <a:solidFill>
                  <a:srgbClr val="0F1115"/>
                </a:solidFill>
                <a:highlight>
                  <a:srgbClr val="FFFFFF"/>
                </a:highlight>
              </a:rPr>
              <a:t>fcc</a:t>
            </a:r>
            <a:r>
              <a:rPr lang="en-US">
                <a:solidFill>
                  <a:srgbClr val="0F1115"/>
                </a:solidFill>
                <a:highlight>
                  <a:srgbClr val="FFFFFF"/>
                </a:highlight>
              </a:rPr>
              <a:t> and hcp sites around -0.90 eV, right in the experimental range! I made several improvements: testing all four sites, saving trajectories to watch the relaxation path, adding GPU support for speed, and storing everything in an ASE database. The database is incredibly useful – now I can query all my results with simple commands. </a:t>
            </a:r>
            <a:endParaRPr lang="ru-RU"/>
          </a:p>
        </p:txBody>
      </p:sp>
      <p:sp>
        <p:nvSpPr>
          <p:cNvPr id="4" name="Номер слайда 3"/>
          <p:cNvSpPr>
            <a:spLocks noGrp="1"/>
          </p:cNvSpPr>
          <p:nvPr>
            <p:ph type="sldNum" sz="quarter" idx="5"/>
          </p:nvPr>
        </p:nvSpPr>
        <p:spPr/>
        <p:txBody>
          <a:bodyPr/>
          <a:lstStyle/>
          <a:p>
            <a:fld id="{ABEBB765-2D49-4AA4-8CD9-EA94CFBA034A}" type="slidenum">
              <a:t>3</a:t>
            </a:fld>
            <a:endParaRPr lang="ru-RU"/>
          </a:p>
        </p:txBody>
      </p:sp>
    </p:spTree>
    <p:extLst>
      <p:ext uri="{BB962C8B-B14F-4D97-AF65-F5344CB8AC3E}">
        <p14:creationId xmlns:p14="http://schemas.microsoft.com/office/powerpoint/2010/main" val="1959772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Script 3 used MACE. The bridge site gave -0.73 eV, very close to </a:t>
            </a:r>
            <a:r>
              <a:rPr lang="en-US" err="1"/>
              <a:t>CHGNet's</a:t>
            </a:r>
            <a:r>
              <a:rPr lang="en-US" dirty="0"/>
              <a:t> values. I experimented with different MACE models – 'small' (fast), 'medium' (balanced), and 'large' (accurate). I also tried float64 precision for better forces, though the energy change was tiny. The most interesting experiment was changing the force convergence criterion from 0.01 to 0.05 eV/Å – it ran faster but gave essentially the</a:t>
            </a:r>
            <a:r>
              <a:rPr lang="en-US"/>
              <a:t> same energies. I  tried different surface builders like bcc111 for iron.</a:t>
            </a:r>
            <a:endParaRPr lang="en-US" dirty="0">
              <a:ea typeface="Calibri"/>
              <a:cs typeface="Calibri"/>
            </a:endParaRPr>
          </a:p>
        </p:txBody>
      </p:sp>
      <p:sp>
        <p:nvSpPr>
          <p:cNvPr id="4" name="Номер слайда 3"/>
          <p:cNvSpPr>
            <a:spLocks noGrp="1"/>
          </p:cNvSpPr>
          <p:nvPr>
            <p:ph type="sldNum" sz="quarter" idx="5"/>
          </p:nvPr>
        </p:nvSpPr>
        <p:spPr/>
        <p:txBody>
          <a:bodyPr/>
          <a:lstStyle/>
          <a:p>
            <a:fld id="{ABEBB765-2D49-4AA4-8CD9-EA94CFBA034A}" type="slidenum">
              <a:t>4</a:t>
            </a:fld>
            <a:endParaRPr lang="ru-RU"/>
          </a:p>
        </p:txBody>
      </p:sp>
    </p:spTree>
    <p:extLst>
      <p:ext uri="{BB962C8B-B14F-4D97-AF65-F5344CB8AC3E}">
        <p14:creationId xmlns:p14="http://schemas.microsoft.com/office/powerpoint/2010/main" val="39705723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Script 4 was the most complex – it automatically finds and tests all possible adsorption sites. The original script found 96 sites on my gold slab. I added ASE's </a:t>
            </a:r>
            <a:r>
              <a:rPr lang="en-US" dirty="0" err="1"/>
              <a:t>NeighborList</a:t>
            </a:r>
            <a:r>
              <a:rPr lang="en-US" dirty="0"/>
              <a:t> for better site detection, parallel processing with multiprocessing to speed things up, and comprehensive visualization that saves PNG images of every structure. The most stable sites were hollow positions at -0.82 eV. </a:t>
            </a:r>
            <a:endParaRPr lang="ru-RU" dirty="0"/>
          </a:p>
        </p:txBody>
      </p:sp>
      <p:sp>
        <p:nvSpPr>
          <p:cNvPr id="4" name="Номер слайда 3"/>
          <p:cNvSpPr>
            <a:spLocks noGrp="1"/>
          </p:cNvSpPr>
          <p:nvPr>
            <p:ph type="sldNum" sz="quarter" idx="5"/>
          </p:nvPr>
        </p:nvSpPr>
        <p:spPr/>
        <p:txBody>
          <a:bodyPr/>
          <a:lstStyle/>
          <a:p>
            <a:fld id="{ABEBB765-2D49-4AA4-8CD9-EA94CFBA034A}" type="slidenum">
              <a:t>5</a:t>
            </a:fld>
            <a:endParaRPr lang="ru-RU"/>
          </a:p>
        </p:txBody>
      </p:sp>
    </p:spTree>
    <p:extLst>
      <p:ext uri="{BB962C8B-B14F-4D97-AF65-F5344CB8AC3E}">
        <p14:creationId xmlns:p14="http://schemas.microsoft.com/office/powerpoint/2010/main" val="33066436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The last script originally used Open Babel, an external library. I systematically replaced every Open Babel call with ASE equivalents. Instead of reading a slab from a file, I built it with fcc111. Instead of manual positioning, I used </a:t>
            </a:r>
            <a:r>
              <a:rPr lang="en-US" err="1"/>
              <a:t>add_adsorbate</a:t>
            </a:r>
            <a:r>
              <a:rPr lang="en-US" dirty="0"/>
              <a:t>. Instead of Open Babel's optimizer, I used ASE's BFGS. The result is a pure ASE workflow that's</a:t>
            </a:r>
            <a:r>
              <a:rPr lang="en-US"/>
              <a:t> cleaner, more flexible, and ready for advanced features. I even added an equation of state calculation for bulk gold – fitting the bulk modulus from first principles. </a:t>
            </a:r>
            <a:endParaRPr lang="en-US" dirty="0">
              <a:ea typeface="Calibri"/>
              <a:cs typeface="Calibri"/>
            </a:endParaRPr>
          </a:p>
        </p:txBody>
      </p:sp>
      <p:sp>
        <p:nvSpPr>
          <p:cNvPr id="4" name="Номер слайда 3"/>
          <p:cNvSpPr>
            <a:spLocks noGrp="1"/>
          </p:cNvSpPr>
          <p:nvPr>
            <p:ph type="sldNum" sz="quarter" idx="5"/>
          </p:nvPr>
        </p:nvSpPr>
        <p:spPr/>
        <p:txBody>
          <a:bodyPr/>
          <a:lstStyle/>
          <a:p>
            <a:fld id="{ABEBB765-2D49-4AA4-8CD9-EA94CFBA034A}" type="slidenum">
              <a:t>6</a:t>
            </a:fld>
            <a:endParaRPr lang="ru-RU"/>
          </a:p>
        </p:txBody>
      </p:sp>
    </p:spTree>
    <p:extLst>
      <p:ext uri="{BB962C8B-B14F-4D97-AF65-F5344CB8AC3E}">
        <p14:creationId xmlns:p14="http://schemas.microsoft.com/office/powerpoint/2010/main" val="25747990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3/18/2026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6044917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3/18/2026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4667130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3/18/2026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5754936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3/18/2026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655381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3/18/2026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8716217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3/18/2026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2341141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3/18/2026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586781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3/18/2026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6327257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3/18/2026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061353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3/18/2026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628434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3/18/2026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1284426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3/18/2026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1925929"/>
      </p:ext>
    </p:extLst>
  </p:cSld>
  <p:clrMap bg1="lt1" tx1="dk1" bg2="lt2" tx2="dk2" accent1="accent1" accent2="accent2" accent3="accent3" accent4="accent4" accent5="accent5" accent6="accent6" hlink="hlink" folHlink="folHlink"/>
  <p:sldLayoutIdLst>
    <p:sldLayoutId id="2147483671" r:id="rId1"/>
    <p:sldLayoutId id="2147483670" r:id="rId2"/>
    <p:sldLayoutId id="2147483669" r:id="rId3"/>
    <p:sldLayoutId id="2147483668" r:id="rId4"/>
    <p:sldLayoutId id="2147483667" r:id="rId5"/>
    <p:sldLayoutId id="2147483666" r:id="rId6"/>
    <p:sldLayoutId id="2147483665" r:id="rId7"/>
    <p:sldLayoutId id="2147483664" r:id="rId8"/>
    <p:sldLayoutId id="2147483663" r:id="rId9"/>
    <p:sldLayoutId id="2147483662" r:id="rId10"/>
    <p:sldLayoutId id="2147483661"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A5D67320-FCFD-4931-AAF7-C6C853329C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Заголовок 1"/>
          <p:cNvSpPr>
            <a:spLocks noGrp="1"/>
          </p:cNvSpPr>
          <p:nvPr>
            <p:ph type="ctrTitle"/>
          </p:nvPr>
        </p:nvSpPr>
        <p:spPr>
          <a:xfrm>
            <a:off x="703400" y="908651"/>
            <a:ext cx="3620882" cy="3640345"/>
          </a:xfrm>
        </p:spPr>
        <p:txBody>
          <a:bodyPr anchor="t">
            <a:normAutofit fontScale="90000"/>
          </a:bodyPr>
          <a:lstStyle/>
          <a:p>
            <a:r>
              <a:rPr lang="ru-RU" sz="4000" b="1"/>
              <a:t>Exploring ASE through Five Demonstration Scripts for Hg Adsorption on Au(111)</a:t>
            </a:r>
            <a:endParaRPr lang="ru-RU"/>
          </a:p>
          <a:p>
            <a:endParaRPr lang="ru-RU" sz="4000" b="1" dirty="0">
              <a:highlight>
                <a:srgbClr val="151517"/>
              </a:highlight>
            </a:endParaRPr>
          </a:p>
          <a:p>
            <a:endParaRPr lang="ru-RU" sz="4000" b="1">
              <a:highlight>
                <a:srgbClr val="151517"/>
              </a:highlight>
            </a:endParaRPr>
          </a:p>
        </p:txBody>
      </p:sp>
      <p:sp>
        <p:nvSpPr>
          <p:cNvPr id="3" name="Подзаголовок 2"/>
          <p:cNvSpPr>
            <a:spLocks noGrp="1"/>
          </p:cNvSpPr>
          <p:nvPr>
            <p:ph type="subTitle" idx="1"/>
          </p:nvPr>
        </p:nvSpPr>
        <p:spPr>
          <a:xfrm>
            <a:off x="703400" y="4945712"/>
            <a:ext cx="3380437" cy="850392"/>
          </a:xfrm>
        </p:spPr>
        <p:txBody>
          <a:bodyPr anchor="b">
            <a:normAutofit/>
          </a:bodyPr>
          <a:lstStyle/>
          <a:p>
            <a:r>
              <a:rPr lang="ru-RU" sz="1800">
                <a:latin typeface="Univers Condensed"/>
              </a:rPr>
              <a:t>Smirnova Elizaveta</a:t>
            </a:r>
          </a:p>
        </p:txBody>
      </p:sp>
      <p:cxnSp>
        <p:nvCxnSpPr>
          <p:cNvPr id="13" name="Straight Connector 12">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3844763B-F2E8-8CB1-D26C-E26A41FA9F07}"/>
              </a:ext>
            </a:extLst>
          </p:cNvPr>
          <p:cNvPicPr>
            <a:picLocks noChangeAspect="1"/>
          </p:cNvPicPr>
          <p:nvPr/>
        </p:nvPicPr>
        <p:blipFill>
          <a:blip r:embed="rId2"/>
          <a:srcRect r="-5" b="2492"/>
          <a:stretch>
            <a:fillRect/>
          </a:stretch>
        </p:blipFill>
        <p:spPr>
          <a:xfrm>
            <a:off x="4876158" y="10"/>
            <a:ext cx="7315841" cy="6857990"/>
          </a:xfrm>
          <a:prstGeom prst="rect">
            <a:avLst/>
          </a:prstGeom>
        </p:spPr>
      </p:pic>
    </p:spTree>
    <p:extLst>
      <p:ext uri="{BB962C8B-B14F-4D97-AF65-F5344CB8AC3E}">
        <p14:creationId xmlns:p14="http://schemas.microsoft.com/office/powerpoint/2010/main" val="1351651579"/>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18">
            <a:extLst>
              <a:ext uri="{FF2B5EF4-FFF2-40B4-BE49-F238E27FC236}">
                <a16:creationId xmlns:a16="http://schemas.microsoft.com/office/drawing/2014/main" id="{E53615EE-C559-4E03-999B-5477F1626F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Заголовок 1">
            <a:extLst>
              <a:ext uri="{FF2B5EF4-FFF2-40B4-BE49-F238E27FC236}">
                <a16:creationId xmlns:a16="http://schemas.microsoft.com/office/drawing/2014/main" id="{4F85412D-1702-9075-6593-12517C82D7B5}"/>
              </a:ext>
            </a:extLst>
          </p:cNvPr>
          <p:cNvSpPr>
            <a:spLocks noGrp="1"/>
          </p:cNvSpPr>
          <p:nvPr>
            <p:ph type="title"/>
          </p:nvPr>
        </p:nvSpPr>
        <p:spPr>
          <a:xfrm>
            <a:off x="700088" y="909637"/>
            <a:ext cx="5958216" cy="1316736"/>
          </a:xfrm>
        </p:spPr>
        <p:txBody>
          <a:bodyPr>
            <a:normAutofit/>
          </a:bodyPr>
          <a:lstStyle/>
          <a:p>
            <a:r>
              <a:rPr lang="ru-RU" b="1"/>
              <a:t> Script 1 – Lennard-Jones Baseline</a:t>
            </a:r>
            <a:endParaRPr lang="ru-RU"/>
          </a:p>
          <a:p>
            <a:endParaRPr lang="ru-RU" b="1"/>
          </a:p>
          <a:p>
            <a:endParaRPr lang="ru-RU" b="1">
              <a:highlight>
                <a:srgbClr val="151517"/>
              </a:highlight>
            </a:endParaRPr>
          </a:p>
        </p:txBody>
      </p:sp>
      <p:cxnSp>
        <p:nvCxnSpPr>
          <p:cNvPr id="26" name="Straight Connector 20">
            <a:extLst>
              <a:ext uri="{FF2B5EF4-FFF2-40B4-BE49-F238E27FC236}">
                <a16:creationId xmlns:a16="http://schemas.microsoft.com/office/drawing/2014/main" id="{799A8EBD-049C-48E6-97ED-C9102D78FC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2376"/>
            <a:ext cx="57150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Объект 2">
            <a:extLst>
              <a:ext uri="{FF2B5EF4-FFF2-40B4-BE49-F238E27FC236}">
                <a16:creationId xmlns:a16="http://schemas.microsoft.com/office/drawing/2014/main" id="{1818EB02-D389-A002-4B72-1E1BE5713165}"/>
              </a:ext>
            </a:extLst>
          </p:cNvPr>
          <p:cNvSpPr>
            <a:spLocks noGrp="1"/>
          </p:cNvSpPr>
          <p:nvPr>
            <p:ph idx="1"/>
          </p:nvPr>
        </p:nvSpPr>
        <p:spPr>
          <a:xfrm>
            <a:off x="700088" y="2235251"/>
            <a:ext cx="5958216" cy="3713109"/>
          </a:xfrm>
        </p:spPr>
        <p:txBody>
          <a:bodyPr vert="horz" lIns="91440" tIns="45720" rIns="91440" bIns="45720" rtlCol="0" anchor="t">
            <a:noAutofit/>
          </a:bodyPr>
          <a:lstStyle/>
          <a:p>
            <a:pPr>
              <a:lnSpc>
                <a:spcPct val="100000"/>
              </a:lnSpc>
            </a:pPr>
            <a:r>
              <a:rPr lang="ru-RU" sz="1600"/>
              <a:t>A 3×3 Au(111) slab with 4 layers</a:t>
            </a:r>
            <a:endParaRPr lang="ru-RU" sz="1600" dirty="0"/>
          </a:p>
          <a:p>
            <a:pPr>
              <a:lnSpc>
                <a:spcPct val="100000"/>
              </a:lnSpc>
            </a:pPr>
            <a:r>
              <a:rPr lang="ru-RU" sz="1600"/>
              <a:t>Lennard-Jones potential with explicit parameters for Hg-Au interaction</a:t>
            </a:r>
            <a:endParaRPr lang="ru-RU" sz="1600" dirty="0"/>
          </a:p>
          <a:p>
            <a:pPr>
              <a:lnSpc>
                <a:spcPct val="100000"/>
              </a:lnSpc>
            </a:pPr>
            <a:r>
              <a:rPr lang="ru-RU" sz="1600"/>
              <a:t>Tests four different adsorption sites: ontop, fcc, hcp, and bridge</a:t>
            </a:r>
            <a:endParaRPr lang="ru-RU" sz="1600" dirty="0"/>
          </a:p>
          <a:p>
            <a:pPr>
              <a:lnSpc>
                <a:spcPct val="100000"/>
              </a:lnSpc>
            </a:pPr>
            <a:r>
              <a:rPr lang="ru-RU" sz="1600"/>
              <a:t>Calculates adsorption energy for each site</a:t>
            </a:r>
            <a:endParaRPr lang="ru-RU" sz="1600" dirty="0"/>
          </a:p>
          <a:p>
            <a:pPr>
              <a:lnSpc>
                <a:spcPct val="100000"/>
              </a:lnSpc>
            </a:pPr>
            <a:endParaRPr lang="ru-RU" sz="1600" dirty="0"/>
          </a:p>
          <a:p>
            <a:pPr marL="0" indent="0">
              <a:lnSpc>
                <a:spcPct val="100000"/>
              </a:lnSpc>
              <a:buNone/>
            </a:pPr>
            <a:r>
              <a:rPr lang="ru-RU" sz="1600">
                <a:highlight>
                  <a:srgbClr val="00FF00"/>
                </a:highlight>
              </a:rPr>
              <a:t># Added explicit LJ parameters for Hg-Au interaction</a:t>
            </a:r>
            <a:r>
              <a:rPr lang="ru-RU" sz="1600" dirty="0"/>
              <a:t>
</a:t>
            </a:r>
            <a:r>
              <a:rPr lang="ru-RU" sz="1600"/>
              <a:t>slab.calc = LennardJones(epsilon=0.05, sigma=2.8, rc=10.0)</a:t>
            </a:r>
            <a:r>
              <a:rPr lang="ru-RU" sz="1600" dirty="0"/>
              <a:t>
</a:t>
            </a:r>
            <a:r>
              <a:rPr lang="ru-RU" sz="1600">
                <a:highlight>
                  <a:srgbClr val="00FF00"/>
                </a:highlight>
              </a:rPr>
              <a:t># Added loop over multiple adsorption sites</a:t>
            </a:r>
            <a:r>
              <a:rPr lang="ru-RU" sz="1600" dirty="0"/>
              <a:t>
</a:t>
            </a:r>
            <a:r>
              <a:rPr lang="ru-RU" sz="1600"/>
              <a:t>sites = ['ontop', 'fcc', 'hcp', 'bridge']</a:t>
            </a:r>
            <a:r>
              <a:rPr lang="ru-RU" sz="1600" dirty="0"/>
              <a:t>
</a:t>
            </a:r>
            <a:r>
              <a:rPr lang="ru-RU" sz="1600"/>
              <a:t>for site in sites:</a:t>
            </a:r>
            <a:r>
              <a:rPr lang="ru-RU" sz="1600" dirty="0"/>
              <a:t>
</a:t>
            </a:r>
            <a:r>
              <a:rPr lang="ru-RU" sz="1600"/>
              <a:t>    add_adsorbate(slab_ads, 'Hg', height=2.2, position=site)</a:t>
            </a:r>
          </a:p>
          <a:p>
            <a:pPr>
              <a:lnSpc>
                <a:spcPct val="100000"/>
              </a:lnSpc>
            </a:pPr>
            <a:endParaRPr lang="ru-RU" sz="1100"/>
          </a:p>
        </p:txBody>
      </p:sp>
      <p:pic>
        <p:nvPicPr>
          <p:cNvPr id="4" name="Рисунок 3" descr="Изображение выглядит как текст, снимок экрана, Шрифт&#10;&#10;Содержимое, созданное искусственным интеллектом, может быть неверным.">
            <a:extLst>
              <a:ext uri="{FF2B5EF4-FFF2-40B4-BE49-F238E27FC236}">
                <a16:creationId xmlns:a16="http://schemas.microsoft.com/office/drawing/2014/main" id="{910C2642-1E28-A5B3-C252-14318BEEAC68}"/>
              </a:ext>
            </a:extLst>
          </p:cNvPr>
          <p:cNvPicPr>
            <a:picLocks noChangeAspect="1"/>
          </p:cNvPicPr>
          <p:nvPr/>
        </p:nvPicPr>
        <p:blipFill>
          <a:blip r:embed="rId3"/>
          <a:stretch>
            <a:fillRect/>
          </a:stretch>
        </p:blipFill>
        <p:spPr>
          <a:xfrm>
            <a:off x="7531502" y="719455"/>
            <a:ext cx="3644095" cy="2596557"/>
          </a:xfrm>
          <a:prstGeom prst="rect">
            <a:avLst/>
          </a:prstGeom>
        </p:spPr>
      </p:pic>
      <p:cxnSp>
        <p:nvCxnSpPr>
          <p:cNvPr id="27" name="Straight Connector 22">
            <a:extLst>
              <a:ext uri="{FF2B5EF4-FFF2-40B4-BE49-F238E27FC236}">
                <a16:creationId xmlns:a16="http://schemas.microsoft.com/office/drawing/2014/main" id="{07AB7C5C-C091-4C25-B1BD-93E2F6948C9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38546"/>
            <a:ext cx="5715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5" name="Рисунок 4" descr="Изображение выглядит как текст, снимок экрана, диаграмма, карта&#10;&#10;Содержимое, созданное искусственным интеллектом, может быть неверным.">
            <a:extLst>
              <a:ext uri="{FF2B5EF4-FFF2-40B4-BE49-F238E27FC236}">
                <a16:creationId xmlns:a16="http://schemas.microsoft.com/office/drawing/2014/main" id="{79C905CB-63A8-35A9-5CD6-0C34C69A6976}"/>
              </a:ext>
            </a:extLst>
          </p:cNvPr>
          <p:cNvPicPr>
            <a:picLocks noChangeAspect="1"/>
          </p:cNvPicPr>
          <p:nvPr/>
        </p:nvPicPr>
        <p:blipFill>
          <a:blip r:embed="rId4"/>
          <a:stretch>
            <a:fillRect/>
          </a:stretch>
        </p:blipFill>
        <p:spPr>
          <a:xfrm>
            <a:off x="7315200" y="3739336"/>
            <a:ext cx="4076700" cy="2262568"/>
          </a:xfrm>
          <a:prstGeom prst="rect">
            <a:avLst/>
          </a:prstGeom>
        </p:spPr>
      </p:pic>
    </p:spTree>
    <p:extLst>
      <p:ext uri="{BB962C8B-B14F-4D97-AF65-F5344CB8AC3E}">
        <p14:creationId xmlns:p14="http://schemas.microsoft.com/office/powerpoint/2010/main" val="13710863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51630FA-7B58-2CF0-010A-E2C2A148CD02}"/>
              </a:ext>
            </a:extLst>
          </p:cNvPr>
          <p:cNvSpPr>
            <a:spLocks noGrp="1"/>
          </p:cNvSpPr>
          <p:nvPr>
            <p:ph type="title"/>
          </p:nvPr>
        </p:nvSpPr>
        <p:spPr/>
        <p:txBody>
          <a:bodyPr/>
          <a:lstStyle/>
          <a:p>
            <a:r>
              <a:rPr lang="ru-RU" sz="2800" b="1">
                <a:solidFill>
                  <a:srgbClr val="0F1115"/>
                </a:solidFill>
                <a:highlight>
                  <a:srgbClr val="FFFFFF"/>
                </a:highlight>
              </a:rPr>
              <a:t>Script 2 – Machine Learning with CHGNet</a:t>
            </a:r>
            <a:endParaRPr lang="ru-RU" sz="2800"/>
          </a:p>
          <a:p>
            <a:endParaRPr lang="ru-RU" dirty="0"/>
          </a:p>
        </p:txBody>
      </p:sp>
      <p:sp>
        <p:nvSpPr>
          <p:cNvPr id="3" name="Объект 2">
            <a:extLst>
              <a:ext uri="{FF2B5EF4-FFF2-40B4-BE49-F238E27FC236}">
                <a16:creationId xmlns:a16="http://schemas.microsoft.com/office/drawing/2014/main" id="{EA6352F7-4AA3-9829-32A6-5BEE7ADD0EEC}"/>
              </a:ext>
            </a:extLst>
          </p:cNvPr>
          <p:cNvSpPr>
            <a:spLocks noGrp="1"/>
          </p:cNvSpPr>
          <p:nvPr>
            <p:ph idx="1"/>
          </p:nvPr>
        </p:nvSpPr>
        <p:spPr/>
        <p:txBody>
          <a:bodyPr vert="horz" lIns="91440" tIns="45720" rIns="91440" bIns="45720" rtlCol="0" anchor="t">
            <a:noAutofit/>
          </a:bodyPr>
          <a:lstStyle/>
          <a:p>
            <a:pPr marL="0" indent="0">
              <a:buNone/>
            </a:pPr>
            <a:r>
              <a:rPr lang="ru-RU" sz="1600" dirty="0">
                <a:highlight>
                  <a:srgbClr val="00FF00"/>
                </a:highlight>
              </a:rPr>
              <a:t># Added more sites</a:t>
            </a:r>
            <a:r>
              <a:rPr lang="ru-RU" sz="1600" dirty="0"/>
              <a:t>
</a:t>
            </a:r>
            <a:r>
              <a:rPr lang="ru-RU" sz="1600"/>
              <a:t>sites = ['fcc', 'hcp', 'ontop', 'bridge']</a:t>
            </a:r>
            <a:r>
              <a:rPr lang="ru-RU" sz="1600" dirty="0"/>
              <a:t>
</a:t>
            </a:r>
            <a:r>
              <a:rPr lang="ru-RU" sz="1600">
                <a:highlight>
                  <a:srgbClr val="00FF00"/>
                </a:highlight>
              </a:rPr>
              <a:t># Added trajectories</a:t>
            </a:r>
            <a:r>
              <a:rPr lang="ru-RU" sz="1600" dirty="0"/>
              <a:t>
</a:t>
            </a:r>
            <a:r>
              <a:rPr lang="ru-RU" sz="1600"/>
              <a:t>dyn = BFGS(atoms, trajectory=f'opt_{site}.traj')</a:t>
            </a:r>
            <a:r>
              <a:rPr lang="ru-RU" sz="1600" dirty="0"/>
              <a:t>
</a:t>
            </a:r>
            <a:r>
              <a:rPr lang="ru-RU" sz="1600">
                <a:highlight>
                  <a:srgbClr val="00FF00"/>
                </a:highlight>
              </a:rPr>
              <a:t># Added GPU support</a:t>
            </a:r>
            <a:r>
              <a:rPr lang="ru-RU" sz="1600" dirty="0"/>
              <a:t>
</a:t>
            </a:r>
            <a:r>
              <a:rPr lang="ru-RU" sz="1600"/>
              <a:t>device = 'cuda' if torch.cuda.is_available() else 'cpu'</a:t>
            </a:r>
            <a:r>
              <a:rPr lang="ru-RU" sz="1600" dirty="0"/>
              <a:t>
</a:t>
            </a:r>
            <a:r>
              <a:rPr lang="ru-RU" sz="1600">
                <a:highlight>
                  <a:srgbClr val="00FF00"/>
                </a:highlight>
              </a:rPr>
              <a:t># Added database storage</a:t>
            </a:r>
            <a:r>
              <a:rPr lang="ru-RU" sz="1600" dirty="0"/>
              <a:t>
</a:t>
            </a:r>
            <a:r>
              <a:rPr lang="ru-RU" sz="1600"/>
              <a:t>db = connect('hg_on_au.db')</a:t>
            </a:r>
            <a:r>
              <a:rPr lang="ru-RU" sz="1600" dirty="0"/>
              <a:t>
</a:t>
            </a:r>
            <a:r>
              <a:rPr lang="ru-RU" sz="1600"/>
              <a:t>db.write(slab_ads, energy=e_ads, site=site)</a:t>
            </a:r>
          </a:p>
        </p:txBody>
      </p:sp>
    </p:spTree>
    <p:extLst>
      <p:ext uri="{BB962C8B-B14F-4D97-AF65-F5344CB8AC3E}">
        <p14:creationId xmlns:p14="http://schemas.microsoft.com/office/powerpoint/2010/main" val="34288537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4231E-6A2E-95E1-7CDF-DFE12B2B5014}"/>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439A6DB7-2C58-63AA-BE58-2FFD3C794DF3}"/>
              </a:ext>
            </a:extLst>
          </p:cNvPr>
          <p:cNvSpPr>
            <a:spLocks noGrp="1"/>
          </p:cNvSpPr>
          <p:nvPr>
            <p:ph type="title"/>
          </p:nvPr>
        </p:nvSpPr>
        <p:spPr/>
        <p:txBody>
          <a:bodyPr/>
          <a:lstStyle/>
          <a:p>
            <a:r>
              <a:rPr lang="ru-RU" sz="2800" b="1">
                <a:solidFill>
                  <a:srgbClr val="0F1115"/>
                </a:solidFill>
                <a:highlight>
                  <a:srgbClr val="FFFFFF"/>
                </a:highlight>
              </a:rPr>
              <a:t>Script 3 – MACE Potential</a:t>
            </a:r>
            <a:endParaRPr lang="ru-RU" sz="2800">
              <a:solidFill>
                <a:srgbClr val="000000"/>
              </a:solidFill>
            </a:endParaRPr>
          </a:p>
          <a:p>
            <a:endParaRPr lang="ru-RU" dirty="0">
              <a:solidFill>
                <a:srgbClr val="000000"/>
              </a:solidFill>
            </a:endParaRPr>
          </a:p>
        </p:txBody>
      </p:sp>
      <p:sp>
        <p:nvSpPr>
          <p:cNvPr id="3" name="Объект 2">
            <a:extLst>
              <a:ext uri="{FF2B5EF4-FFF2-40B4-BE49-F238E27FC236}">
                <a16:creationId xmlns:a16="http://schemas.microsoft.com/office/drawing/2014/main" id="{64B95B54-5C90-C596-D861-7552064DCEA1}"/>
              </a:ext>
            </a:extLst>
          </p:cNvPr>
          <p:cNvSpPr>
            <a:spLocks noGrp="1"/>
          </p:cNvSpPr>
          <p:nvPr>
            <p:ph idx="1"/>
          </p:nvPr>
        </p:nvSpPr>
        <p:spPr/>
        <p:txBody>
          <a:bodyPr vert="horz" lIns="91440" tIns="45720" rIns="91440" bIns="45720" rtlCol="0" anchor="t">
            <a:normAutofit fontScale="85000" lnSpcReduction="20000"/>
          </a:bodyPr>
          <a:lstStyle/>
          <a:p>
            <a:pPr marL="0" indent="0">
              <a:buNone/>
            </a:pPr>
            <a:r>
              <a:rPr lang="ru-RU" dirty="0">
                <a:highlight>
                  <a:srgbClr val="00FF00"/>
                </a:highlight>
              </a:rPr>
              <a:t># Different MACE models</a:t>
            </a:r>
            <a:r>
              <a:rPr lang="ru-RU" dirty="0"/>
              <a:t>
</a:t>
            </a:r>
            <a:r>
              <a:rPr lang="ru-RU"/>
              <a:t>calc = mace_mp(model="medium", device='cpu')</a:t>
            </a:r>
            <a:r>
              <a:rPr lang="ru-RU" dirty="0"/>
              <a:t>
</a:t>
            </a:r>
            <a:r>
              <a:rPr lang="ru-RU"/>
              <a:t># calc = mace_mp(model="large", device='cpu', dtype='float64')</a:t>
            </a:r>
            <a:r>
              <a:rPr lang="ru-RU" dirty="0"/>
              <a:t>
</a:t>
            </a:r>
            <a:r>
              <a:rPr lang="ru-RU">
                <a:highlight>
                  <a:srgbClr val="00FF00"/>
                </a:highlight>
              </a:rPr>
              <a:t># Force convergence criteria</a:t>
            </a:r>
            <a:r>
              <a:rPr lang="ru-RU" dirty="0"/>
              <a:t>
</a:t>
            </a:r>
            <a:r>
              <a:rPr lang="ru-RU"/>
              <a:t>dyn.run(fmax=0.01)  # tight</a:t>
            </a:r>
            <a:r>
              <a:rPr lang="ru-RU" dirty="0"/>
              <a:t>
</a:t>
            </a:r>
            <a:r>
              <a:rPr lang="ru-RU"/>
              <a:t># dyn.run(fmax=0.05)  # looser</a:t>
            </a:r>
            <a:r>
              <a:rPr lang="ru-RU" dirty="0"/>
              <a:t>
</a:t>
            </a:r>
            <a:r>
              <a:rPr lang="ru-RU">
                <a:highlight>
                  <a:srgbClr val="00FF00"/>
                </a:highlight>
              </a:rPr>
              <a:t># Different slab builders</a:t>
            </a:r>
            <a:r>
              <a:rPr lang="ru-RU" dirty="0"/>
              <a:t>
</a:t>
            </a:r>
            <a:r>
              <a:rPr lang="ru-RU"/>
              <a:t>from ase.build import bcc111, hcp0001</a:t>
            </a:r>
          </a:p>
        </p:txBody>
      </p:sp>
    </p:spTree>
    <p:extLst>
      <p:ext uri="{BB962C8B-B14F-4D97-AF65-F5344CB8AC3E}">
        <p14:creationId xmlns:p14="http://schemas.microsoft.com/office/powerpoint/2010/main" val="32906120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B278B-7ADA-5C2C-CBF8-B943F12E57D9}"/>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551DF480-36F7-68FE-CC51-18DED66BBADC}"/>
              </a:ext>
            </a:extLst>
          </p:cNvPr>
          <p:cNvSpPr>
            <a:spLocks noGrp="1"/>
          </p:cNvSpPr>
          <p:nvPr>
            <p:ph type="title"/>
          </p:nvPr>
        </p:nvSpPr>
        <p:spPr/>
        <p:txBody>
          <a:bodyPr/>
          <a:lstStyle/>
          <a:p>
            <a:r>
              <a:rPr lang="ru-RU" sz="2800" b="1">
                <a:solidFill>
                  <a:srgbClr val="0F1115"/>
                </a:solidFill>
                <a:highlight>
                  <a:srgbClr val="FFFFFF"/>
                </a:highlight>
              </a:rPr>
              <a:t>Script 4 – Automated Site Screening with LJ</a:t>
            </a:r>
            <a:endParaRPr lang="ru-RU"/>
          </a:p>
          <a:p>
            <a:endParaRPr lang="ru-RU" sz="2800" b="1" dirty="0">
              <a:solidFill>
                <a:srgbClr val="0F1115"/>
              </a:solidFill>
              <a:highlight>
                <a:srgbClr val="FFFFFF"/>
              </a:highlight>
            </a:endParaRPr>
          </a:p>
          <a:p>
            <a:endParaRPr lang="ru-RU" dirty="0">
              <a:solidFill>
                <a:srgbClr val="000000"/>
              </a:solidFill>
            </a:endParaRPr>
          </a:p>
        </p:txBody>
      </p:sp>
      <p:sp>
        <p:nvSpPr>
          <p:cNvPr id="3" name="Объект 2">
            <a:extLst>
              <a:ext uri="{FF2B5EF4-FFF2-40B4-BE49-F238E27FC236}">
                <a16:creationId xmlns:a16="http://schemas.microsoft.com/office/drawing/2014/main" id="{36116359-2418-0292-D792-78560DDDEBA5}"/>
              </a:ext>
            </a:extLst>
          </p:cNvPr>
          <p:cNvSpPr>
            <a:spLocks noGrp="1"/>
          </p:cNvSpPr>
          <p:nvPr>
            <p:ph idx="1"/>
          </p:nvPr>
        </p:nvSpPr>
        <p:spPr/>
        <p:txBody>
          <a:bodyPr vert="horz" lIns="91440" tIns="45720" rIns="91440" bIns="45720" rtlCol="0" anchor="t">
            <a:normAutofit fontScale="70000" lnSpcReduction="20000"/>
          </a:bodyPr>
          <a:lstStyle/>
          <a:p>
            <a:pPr marL="0" indent="0">
              <a:buNone/>
            </a:pPr>
            <a:r>
              <a:rPr lang="ru-RU" dirty="0">
                <a:highlight>
                  <a:srgbClr val="00FF00"/>
                </a:highlight>
              </a:rPr>
              <a:t># Site detection improvements</a:t>
            </a:r>
            <a:r>
              <a:rPr lang="ru-RU" dirty="0"/>
              <a:t>
</a:t>
            </a:r>
            <a:r>
              <a:rPr lang="ru-RU"/>
              <a:t>nl = NeighborList([bridge_cutoff] * len(slab), ...)</a:t>
            </a:r>
            <a:r>
              <a:rPr lang="ru-RU" dirty="0"/>
              <a:t>
</a:t>
            </a:r>
            <a:r>
              <a:rPr lang="ru-RU">
                <a:highlight>
                  <a:srgbClr val="00FF00"/>
                </a:highlight>
              </a:rPr>
              <a:t># Parallel processing</a:t>
            </a:r>
            <a:r>
              <a:rPr lang="ru-RU" dirty="0"/>
              <a:t>
</a:t>
            </a:r>
            <a:r>
              <a:rPr lang="ru-RU"/>
              <a:t>from multiprocessing import Pool</a:t>
            </a:r>
            <a:r>
              <a:rPr lang="ru-RU" dirty="0"/>
              <a:t>
</a:t>
            </a:r>
            <a:r>
              <a:rPr lang="ru-RU"/>
              <a:t>with Pool() as pool:</a:t>
            </a:r>
            <a:r>
              <a:rPr lang="ru-RU" dirty="0"/>
              <a:t>
</a:t>
            </a:r>
            <a:r>
              <a:rPr lang="ru-RU"/>
              <a:t>    results = pool.map(run_site, site_items)</a:t>
            </a:r>
            <a:r>
              <a:rPr lang="ru-RU" dirty="0"/>
              <a:t>
</a:t>
            </a:r>
            <a:r>
              <a:rPr lang="ru-RU">
                <a:highlight>
                  <a:srgbClr val="00FF00"/>
                </a:highlight>
              </a:rPr>
              <a:t># Comprehensive visualization</a:t>
            </a:r>
            <a:r>
              <a:rPr lang="ru-RU" dirty="0"/>
              <a:t>
</a:t>
            </a:r>
            <a:r>
              <a:rPr lang="ru-RU"/>
              <a:t>view(slab_with_ads)  # interactive</a:t>
            </a:r>
            <a:r>
              <a:rPr lang="ru-RU" dirty="0"/>
              <a:t>
</a:t>
            </a:r>
            <a:r>
              <a:rPr lang="ru-RU"/>
              <a:t>write(f'png_outputs/{name}.png', slab_with_ads)  </a:t>
            </a:r>
            <a:r>
              <a:rPr lang="ru-RU">
                <a:highlight>
                  <a:srgbClr val="00FF00"/>
                </a:highlight>
              </a:rPr>
              <a:t># saved images</a:t>
            </a:r>
          </a:p>
        </p:txBody>
      </p:sp>
    </p:spTree>
    <p:extLst>
      <p:ext uri="{BB962C8B-B14F-4D97-AF65-F5344CB8AC3E}">
        <p14:creationId xmlns:p14="http://schemas.microsoft.com/office/powerpoint/2010/main" val="20405082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6BB27-07F1-464A-F332-23D5CECF54C5}"/>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55B4E7C8-FDD4-2C03-D7D2-6EA8E2E85F69}"/>
              </a:ext>
            </a:extLst>
          </p:cNvPr>
          <p:cNvSpPr>
            <a:spLocks noGrp="1"/>
          </p:cNvSpPr>
          <p:nvPr>
            <p:ph type="title"/>
          </p:nvPr>
        </p:nvSpPr>
        <p:spPr/>
        <p:txBody>
          <a:bodyPr/>
          <a:lstStyle/>
          <a:p>
            <a:r>
              <a:rPr lang="ru-RU" sz="2800" b="1">
                <a:solidFill>
                  <a:srgbClr val="0F1115"/>
                </a:solidFill>
                <a:highlight>
                  <a:srgbClr val="FFFFFF"/>
                </a:highlight>
              </a:rPr>
              <a:t>Script 5 – Transition from Open Babel to ASE</a:t>
            </a:r>
            <a:endParaRPr lang="ru-RU"/>
          </a:p>
          <a:p>
            <a:endParaRPr lang="ru-RU" sz="2800" b="1" dirty="0">
              <a:solidFill>
                <a:srgbClr val="0F1115"/>
              </a:solidFill>
              <a:highlight>
                <a:srgbClr val="FFFFFF"/>
              </a:highlight>
            </a:endParaRPr>
          </a:p>
          <a:p>
            <a:endParaRPr lang="ru-RU" sz="2800" b="1" dirty="0">
              <a:solidFill>
                <a:srgbClr val="0F1115"/>
              </a:solidFill>
              <a:highlight>
                <a:srgbClr val="FFFFFF"/>
              </a:highlight>
            </a:endParaRPr>
          </a:p>
          <a:p>
            <a:endParaRPr lang="ru-RU" dirty="0">
              <a:solidFill>
                <a:srgbClr val="000000"/>
              </a:solidFill>
            </a:endParaRPr>
          </a:p>
        </p:txBody>
      </p:sp>
      <p:sp>
        <p:nvSpPr>
          <p:cNvPr id="3" name="Объект 2">
            <a:extLst>
              <a:ext uri="{FF2B5EF4-FFF2-40B4-BE49-F238E27FC236}">
                <a16:creationId xmlns:a16="http://schemas.microsoft.com/office/drawing/2014/main" id="{A3E8EE91-51DA-1E20-381E-D5F6E1F0F1AE}"/>
              </a:ext>
            </a:extLst>
          </p:cNvPr>
          <p:cNvSpPr>
            <a:spLocks noGrp="1"/>
          </p:cNvSpPr>
          <p:nvPr>
            <p:ph idx="1"/>
          </p:nvPr>
        </p:nvSpPr>
        <p:spPr/>
        <p:txBody>
          <a:bodyPr vert="horz" lIns="91440" tIns="45720" rIns="91440" bIns="45720" rtlCol="0" anchor="t">
            <a:noAutofit/>
          </a:bodyPr>
          <a:lstStyle/>
          <a:p>
            <a:pPr marL="0" indent="0">
              <a:buNone/>
            </a:pPr>
            <a:r>
              <a:rPr lang="ru-RU" sz="1400" dirty="0">
                <a:highlight>
                  <a:srgbClr val="00FF00"/>
                </a:highlight>
              </a:rPr>
              <a:t># Before (Open Babel)</a:t>
            </a:r>
            <a:r>
              <a:rPr lang="ru-RU" sz="1400" dirty="0"/>
              <a:t>
</a:t>
            </a:r>
            <a:r>
              <a:rPr lang="ru-RU" sz="1400"/>
              <a:t>ff = pybel._forcefields["uff"]</a:t>
            </a:r>
            <a:r>
              <a:rPr lang="ru-RU" sz="1400" dirty="0"/>
              <a:t>
</a:t>
            </a:r>
            <a:r>
              <a:rPr lang="ru-RU" sz="1400"/>
              <a:t>e_slab = ff.Energy()</a:t>
            </a:r>
            <a:r>
              <a:rPr lang="ru-RU" sz="1400" dirty="0"/>
              <a:t>
</a:t>
            </a:r>
            <a:r>
              <a:rPr lang="ru-RU" sz="1400">
                <a:highlight>
                  <a:srgbClr val="00FF00"/>
                </a:highlight>
              </a:rPr>
              <a:t># After (ASE)</a:t>
            </a:r>
            <a:r>
              <a:rPr lang="ru-RU" sz="1400" dirty="0"/>
              <a:t>
</a:t>
            </a:r>
            <a:r>
              <a:rPr lang="ru-RU" sz="1400"/>
              <a:t>from ase.calculators.emt import EMT</a:t>
            </a:r>
            <a:r>
              <a:rPr lang="ru-RU" sz="1400" dirty="0"/>
              <a:t>
</a:t>
            </a:r>
            <a:r>
              <a:rPr lang="ru-RU" sz="1400"/>
              <a:t>slab.calc = EMT()</a:t>
            </a:r>
            <a:r>
              <a:rPr lang="ru-RU" sz="1400" dirty="0"/>
              <a:t>
</a:t>
            </a:r>
            <a:r>
              <a:rPr lang="ru-RU" sz="1400"/>
              <a:t>e_slab = slab.get_potential_energy()</a:t>
            </a:r>
            <a:r>
              <a:rPr lang="ru-RU" sz="1400" dirty="0"/>
              <a:t>
</a:t>
            </a:r>
            <a:r>
              <a:rPr lang="ru-RU" sz="1400">
                <a:highlight>
                  <a:srgbClr val="00FF00"/>
                </a:highlight>
              </a:rPr>
              <a:t># Added equation of state</a:t>
            </a:r>
            <a:r>
              <a:rPr lang="ru-RU" sz="1400" dirty="0"/>
              <a:t>
</a:t>
            </a:r>
            <a:r>
              <a:rPr lang="ru-RU" sz="1400"/>
              <a:t>from ase.eos import EquationOfState</a:t>
            </a:r>
            <a:r>
              <a:rPr lang="ru-RU" sz="1400" dirty="0"/>
              <a:t>
</a:t>
            </a:r>
            <a:r>
              <a:rPr lang="ru-RU" sz="1400"/>
              <a:t>eos = EquationOfState(volumes, energies)</a:t>
            </a:r>
            <a:r>
              <a:rPr lang="ru-RU" sz="1400" dirty="0"/>
              <a:t>
</a:t>
            </a:r>
            <a:r>
              <a:rPr lang="ru-RU" sz="1400"/>
              <a:t>v0, e0, B = eos.fit()</a:t>
            </a:r>
          </a:p>
        </p:txBody>
      </p:sp>
    </p:spTree>
    <p:extLst>
      <p:ext uri="{BB962C8B-B14F-4D97-AF65-F5344CB8AC3E}">
        <p14:creationId xmlns:p14="http://schemas.microsoft.com/office/powerpoint/2010/main" val="1248588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D6320-C0C8-4EB2-2DF0-28C7F1573A8E}"/>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DC2DAAD9-D88F-F395-1F95-92D14F0DFB78}"/>
              </a:ext>
            </a:extLst>
          </p:cNvPr>
          <p:cNvSpPr>
            <a:spLocks noGrp="1"/>
          </p:cNvSpPr>
          <p:nvPr>
            <p:ph type="title"/>
          </p:nvPr>
        </p:nvSpPr>
        <p:spPr/>
        <p:txBody>
          <a:bodyPr/>
          <a:lstStyle/>
          <a:p>
            <a:r>
              <a:rPr lang="ru-RU" sz="2800" b="1">
                <a:solidFill>
                  <a:srgbClr val="0F1115"/>
                </a:solidFill>
                <a:highlight>
                  <a:srgbClr val="FFFFFF"/>
                </a:highlight>
              </a:rPr>
              <a:t>Key Takeaways from All Five Scripts</a:t>
            </a:r>
            <a:endParaRPr lang="ru-RU"/>
          </a:p>
          <a:p>
            <a:endParaRPr lang="ru-RU" sz="2800" b="1" dirty="0">
              <a:solidFill>
                <a:srgbClr val="0F1115"/>
              </a:solidFill>
              <a:highlight>
                <a:srgbClr val="FFFFFF"/>
              </a:highlight>
            </a:endParaRPr>
          </a:p>
          <a:p>
            <a:endParaRPr lang="ru-RU" sz="2800" b="1" dirty="0">
              <a:solidFill>
                <a:srgbClr val="0F1115"/>
              </a:solidFill>
              <a:highlight>
                <a:srgbClr val="FFFFFF"/>
              </a:highlight>
            </a:endParaRPr>
          </a:p>
          <a:p>
            <a:endParaRPr lang="ru-RU" dirty="0">
              <a:solidFill>
                <a:srgbClr val="000000"/>
              </a:solidFill>
            </a:endParaRPr>
          </a:p>
        </p:txBody>
      </p:sp>
      <p:sp>
        <p:nvSpPr>
          <p:cNvPr id="3" name="Объект 2">
            <a:extLst>
              <a:ext uri="{FF2B5EF4-FFF2-40B4-BE49-F238E27FC236}">
                <a16:creationId xmlns:a16="http://schemas.microsoft.com/office/drawing/2014/main" id="{B832A14F-9067-6D59-1CEB-6C9BDAAF0414}"/>
              </a:ext>
            </a:extLst>
          </p:cNvPr>
          <p:cNvSpPr>
            <a:spLocks noGrp="1"/>
          </p:cNvSpPr>
          <p:nvPr>
            <p:ph idx="1"/>
          </p:nvPr>
        </p:nvSpPr>
        <p:spPr/>
        <p:txBody>
          <a:bodyPr vert="horz" lIns="91440" tIns="45720" rIns="91440" bIns="45720" rtlCol="0" anchor="t">
            <a:noAutofit/>
          </a:bodyPr>
          <a:lstStyle/>
          <a:p>
            <a:r>
              <a:rPr lang="ru-RU" sz="1600"/>
              <a:t>Small changes matter – LJ parameters completely change results</a:t>
            </a:r>
          </a:p>
          <a:p>
            <a:r>
              <a:rPr lang="ru-RU" sz="1600"/>
              <a:t>ML potentials are worth it – CHGNet/MACE give experimental accuracy</a:t>
            </a:r>
          </a:p>
          <a:p>
            <a:r>
              <a:rPr lang="ru-RU" sz="1600"/>
              <a:t>Automation is powerful – 96 sites tested automatically</a:t>
            </a:r>
          </a:p>
          <a:p>
            <a:r>
              <a:rPr lang="ru-RU" sz="1600"/>
              <a:t>Visualization is essential – ase gui and view() catch mistakes</a:t>
            </a:r>
          </a:p>
          <a:p>
            <a:r>
              <a:rPr lang="ru-RU" sz="1600"/>
              <a:t>Databases organize everything – ase.db for thousands of calculations</a:t>
            </a:r>
          </a:p>
          <a:p>
            <a:pPr marL="0" indent="0">
              <a:buNone/>
            </a:pPr>
            <a:endParaRPr lang="ru-RU" sz="1400" dirty="0"/>
          </a:p>
          <a:p>
            <a:pPr marL="0" indent="0">
              <a:buNone/>
            </a:pPr>
            <a:endParaRPr lang="ru-RU" sz="1400" dirty="0"/>
          </a:p>
        </p:txBody>
      </p:sp>
    </p:spTree>
    <p:extLst>
      <p:ext uri="{BB962C8B-B14F-4D97-AF65-F5344CB8AC3E}">
        <p14:creationId xmlns:p14="http://schemas.microsoft.com/office/powerpoint/2010/main" val="1988871398"/>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Широкоэкранный</PresentationFormat>
  <Paragraphs>0</Paragraphs>
  <Slides>7</Slides>
  <Notes>5</Notes>
  <HiddenSlides>0</HiddenSlides>
  <MMClips>0</MMClips>
  <ScaleCrop>false</ScaleCrop>
  <HeadingPairs>
    <vt:vector size="4" baseType="variant">
      <vt:variant>
        <vt:lpstr>Тема</vt:lpstr>
      </vt:variant>
      <vt:variant>
        <vt:i4>1</vt:i4>
      </vt:variant>
      <vt:variant>
        <vt:lpstr>Заголовки слайдов</vt:lpstr>
      </vt:variant>
      <vt:variant>
        <vt:i4>7</vt:i4>
      </vt:variant>
    </vt:vector>
  </HeadingPairs>
  <TitlesOfParts>
    <vt:vector size="8" baseType="lpstr">
      <vt:lpstr>ChronicleVTI</vt:lpstr>
      <vt:lpstr>Exploring ASE through Five Demonstration Scripts for Hg Adsorption on Au(111)  </vt:lpstr>
      <vt:lpstr> Script 1 – Lennard-Jones Baseline  </vt:lpstr>
      <vt:lpstr>Script 2 – Machine Learning with CHGNet </vt:lpstr>
      <vt:lpstr>Script 3 – MACE Potential </vt:lpstr>
      <vt:lpstr>Script 4 – Automated Site Screening with LJ  </vt:lpstr>
      <vt:lpstr>Script 5 – Transition from Open Babel to ASE   </vt:lpstr>
      <vt:lpstr>Key Takeaways from All Five Scripts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99</cp:revision>
  <dcterms:created xsi:type="dcterms:W3CDTF">2012-07-30T23:42:41Z</dcterms:created>
  <dcterms:modified xsi:type="dcterms:W3CDTF">2026-03-18T16:05:23Z</dcterms:modified>
</cp:coreProperties>
</file>